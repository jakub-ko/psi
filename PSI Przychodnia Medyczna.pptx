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4"/>
  </p:sldMasterIdLst>
  <p:notesMasterIdLst>
    <p:notesMasterId r:id="rId15"/>
  </p:notesMasterIdLst>
  <p:handoutMasterIdLst>
    <p:handoutMasterId r:id="rId16"/>
  </p:handoutMasterIdLst>
  <p:sldIdLst>
    <p:sldId id="264" r:id="rId5"/>
    <p:sldId id="265" r:id="rId6"/>
    <p:sldId id="268" r:id="rId7"/>
    <p:sldId id="269" r:id="rId8"/>
    <p:sldId id="267" r:id="rId9"/>
    <p:sldId id="270" r:id="rId10"/>
    <p:sldId id="271" r:id="rId11"/>
    <p:sldId id="275" r:id="rId12"/>
    <p:sldId id="273" r:id="rId13"/>
    <p:sldId id="274" r:id="rId14"/>
  </p:sldIdLst>
  <p:sldSz cx="12192000" cy="6858000"/>
  <p:notesSz cx="7104063" cy="10234613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FCD5339C-519D-4230-BF0C-1BF09A2FE2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3982FE9-1227-454F-8FBE-5D49EEFEFD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 rtl="0"/>
            <a:fld id="{ECB7BE63-991A-4DB2-908D-3301DF780BE3}" type="datetime1">
              <a:rPr lang="pl-PL" smtClean="0"/>
              <a:t>20.05.2026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C2C515AC-387D-4DC2-8066-2F960E1511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BCA55534-4B86-498E-A9D9-C98A3290DC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4D9C5148-8ED6-434E-BA59-EF48324382B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89953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pl-PL" noProof="0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94B859C-63A4-4C8D-AB58-B0EBA6CDD873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rtl="0"/>
            <a:endParaRPr lang="pl-PL" noProof="0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CED33291-C0D9-4415-AEC4-F67D377A5ADC}" type="slidenum">
              <a:rPr lang="pl-PL" noProof="0" smtClean="0"/>
              <a:t>‹#›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4290305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ED33291-C0D9-4415-AEC4-F67D377A5ADC}" type="slidenum">
              <a:rPr lang="pl-PL" smtClean="0"/>
              <a:t>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7365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Prostokąt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l-PL" noProof="0"/>
              <a:t>Kliknij, aby edytować styl wzorca podtytułu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18F06DD-D829-48EE-80A8-E295FE858B72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172B919-10FD-4F45-BA7B-91491E9980DD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rtlCol="0"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rtlCol="0"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778CBCE-04B6-44A8-891D-9F3836548498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7287D8B-F02B-4CDC-BAB9-C1ED8683A859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236398D-084D-4D88-9EF5-0937EDBF21C9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11" name="Stopka — symbol zastępczy 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12" name="Numer slajdu — symbol zastępczy 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298F8C9-EFF0-4305-8316-E2607CA522D4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7" name="Stopka — symbol zastępczy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8" name="Numer slajdu — symbol zastępczy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C9AC502-E87D-474B-AC14-59D6DF714ED3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 baseline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758034A-C567-4920-81BD-BA3F9F4F167C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8" name="Data — symbol zastępczy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9BF6858-5A1A-4753-899E-B35E2F86973D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9" name="Stopka — symbol zastępczy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10" name="Numer slajdu — symbol zastępczy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A12EE9C-4551-4580-9B7A-A9284A1A871F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</a:t>
            </a:r>
            <a:endParaRPr lang="pl-PL" noProof="0" dirty="0"/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  <a:endParaRPr lang="pl-PL" noProof="0" dirty="0"/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851576C-4B99-41E5-9ECB-0D562F4DC922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 dirty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 dirty="0"/>
              <a:t>Kliknij, aby edytować styl wzorca tytułu</a:t>
            </a:r>
          </a:p>
        </p:txBody>
      </p:sp>
      <p:sp>
        <p:nvSpPr>
          <p:cNvPr id="38" name="Prostokąt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E9AAF44-6480-4485-82BA-3BD252DDDFA1}" type="datetime1">
              <a:rPr lang="pl-PL" smtClean="0"/>
              <a:pPr/>
              <a:t>20.05.2026</a:t>
            </a:fld>
            <a:endParaRPr lang="pl-PL" dirty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pl-PL" noProof="0" dirty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4FAB73BC-B049-4115-A692-8D63A059BFB8}" type="slidenum">
              <a:rPr lang="pl-PL" noProof="0" smtClean="0"/>
              <a:pPr/>
              <a:t>‹#›</a:t>
            </a:fld>
            <a:endParaRPr lang="pl-PL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Prostokąt 18">
            <a:extLst>
              <a:ext uri="{FF2B5EF4-FFF2-40B4-BE49-F238E27FC236}">
                <a16:creationId xmlns:a16="http://schemas.microsoft.com/office/drawing/2014/main" id="{9FDD9264-A478-4B82-A891-2BEA8BF9F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02A32A9-E857-46CE-8AA3-D318B7D64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6" r="9092" b="20447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1" name="Prostokąt 20">
            <a:extLst>
              <a:ext uri="{FF2B5EF4-FFF2-40B4-BE49-F238E27FC236}">
                <a16:creationId xmlns:a16="http://schemas.microsoft.com/office/drawing/2014/main" id="{C4D755E9-CEF5-43A7-A514-4664F25F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BAEEE6-69AA-4811-8D2B-F84F74D46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5" y="1298448"/>
            <a:ext cx="4171950" cy="2521077"/>
          </a:xfrm>
        </p:spPr>
        <p:txBody>
          <a:bodyPr rtlCol="0">
            <a:normAutofit/>
          </a:bodyPr>
          <a:lstStyle/>
          <a:p>
            <a:r>
              <a:rPr lang="pl-PL" sz="1800" dirty="0"/>
              <a:t>Projektowanie  Systemów  Informatycznych</a:t>
            </a:r>
            <a:br>
              <a:rPr lang="pl-PL" sz="1800" dirty="0"/>
            </a:br>
            <a:br>
              <a:rPr lang="pl-PL" sz="4400" dirty="0"/>
            </a:br>
            <a:r>
              <a:rPr lang="pl-P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Przychodnia</a:t>
            </a:r>
            <a:br>
              <a:rPr lang="pl-P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pl-PL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Medyczna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21F547-2086-4D47-BB8F-44FA94006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184471"/>
            <a:ext cx="3685069" cy="914400"/>
          </a:xfrm>
        </p:spPr>
        <p:txBody>
          <a:bodyPr rtlCol="0">
            <a:normAutofit/>
          </a:bodyPr>
          <a:lstStyle/>
          <a:p>
            <a:pPr rtl="0"/>
            <a:r>
              <a:rPr lang="pl-PL" dirty="0">
                <a:solidFill>
                  <a:schemeClr val="bg1"/>
                </a:solidFill>
              </a:rPr>
              <a:t>Jakub Kochanowski</a:t>
            </a:r>
          </a:p>
          <a:p>
            <a:pPr rtl="0"/>
            <a:r>
              <a:rPr lang="pl-PL" dirty="0">
                <a:solidFill>
                  <a:schemeClr val="bg1"/>
                </a:solidFill>
              </a:rPr>
              <a:t>Maciej Tyc</a:t>
            </a:r>
          </a:p>
        </p:txBody>
      </p:sp>
      <p:sp>
        <p:nvSpPr>
          <p:cNvPr id="23" name="Prostokąt 22">
            <a:extLst>
              <a:ext uri="{FF2B5EF4-FFF2-40B4-BE49-F238E27FC236}">
                <a16:creationId xmlns:a16="http://schemas.microsoft.com/office/drawing/2014/main" id="{2BF879CD-ED15-450F-B829-699C694D2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21FCA85-F913-7F6B-DAC0-ECD9655DF72A}"/>
              </a:ext>
            </a:extLst>
          </p:cNvPr>
          <p:cNvSpPr txBox="1"/>
          <p:nvPr/>
        </p:nvSpPr>
        <p:spPr>
          <a:xfrm>
            <a:off x="962025" y="5682734"/>
            <a:ext cx="344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dirty="0">
                <a:solidFill>
                  <a:schemeClr val="bg1">
                    <a:lumMod val="95000"/>
                  </a:schemeClr>
                </a:solidFill>
              </a:rPr>
              <a:t>UWM Olsztyn 21.05.2026</a:t>
            </a:r>
          </a:p>
        </p:txBody>
      </p:sp>
    </p:spTree>
    <p:extLst>
      <p:ext uri="{BB962C8B-B14F-4D97-AF65-F5344CB8AC3E}">
        <p14:creationId xmlns:p14="http://schemas.microsoft.com/office/powerpoint/2010/main" val="3550316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FCDE57-D440-A140-2976-83B15375C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/>
          <a:lstStyle/>
          <a:p>
            <a:r>
              <a:rPr lang="pl-PL" dirty="0"/>
              <a:t>Analiza Biznesowa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24396D5-C78C-23CA-78A2-BEEA5A1290CF}"/>
              </a:ext>
            </a:extLst>
          </p:cNvPr>
          <p:cNvSpPr txBox="1"/>
          <p:nvPr/>
        </p:nvSpPr>
        <p:spPr>
          <a:xfrm>
            <a:off x="0" y="3752850"/>
            <a:ext cx="344804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Obszar: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/>
            <a:r>
              <a:rPr lang="pl-PL" dirty="0">
                <a:solidFill>
                  <a:schemeClr val="bg1"/>
                </a:solidFill>
              </a:rPr>
              <a:t>Obsługa pacjenta w przychodni: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Rejestracja wizyty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Udzielenie świadczenia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Wystawianie recepty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Rozliczenie z NFZ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C5678DC-8732-29A7-B4BF-C7AF165E387E}"/>
              </a:ext>
            </a:extLst>
          </p:cNvPr>
          <p:cNvSpPr txBox="1"/>
          <p:nvPr/>
        </p:nvSpPr>
        <p:spPr>
          <a:xfrm>
            <a:off x="-4256" y="2698016"/>
            <a:ext cx="34480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Dziedzina: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/>
            <a:r>
              <a:rPr lang="pl-PL" dirty="0">
                <a:solidFill>
                  <a:schemeClr val="bg1"/>
                </a:solidFill>
              </a:rPr>
              <a:t>Przychodnia Medyczna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53C0DDE-293E-8A59-F362-CAD284F07E94}"/>
              </a:ext>
            </a:extLst>
          </p:cNvPr>
          <p:cNvSpPr txBox="1"/>
          <p:nvPr/>
        </p:nvSpPr>
        <p:spPr>
          <a:xfrm>
            <a:off x="3448049" y="390525"/>
            <a:ext cx="83724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Opis Organizacji:</a:t>
            </a:r>
          </a:p>
          <a:p>
            <a:endParaRPr lang="pl-PL" i="1" dirty="0"/>
          </a:p>
          <a:p>
            <a:pPr algn="r"/>
            <a:r>
              <a:rPr lang="pl-PL" dirty="0"/>
              <a:t>Przychodnia to organizacja udzielająca świadczeń medycznych pacjentom. Przychodnia posiada podpisaną umowę z Narodowym Funduszem Zdrowia (NFZ) na udzielanie nowych świadczeń, jednak oferuje również usługi dodatkowe (np. prywatne wizyty specjalistyczne), za które pacjenci uiszczają opłaty w kasie. </a:t>
            </a:r>
          </a:p>
          <a:p>
            <a:pPr algn="r"/>
            <a:r>
              <a:rPr lang="pl-PL" dirty="0"/>
              <a:t>W strukturze organizacji działają pracownicy rejestracji obsługujący wizyty, lekarze przeprowadzający wywiady i badania, kasjerki przyjmujące płatności oraz księgowi zajmujący się rozliczeniami z instytucjami zewnętrznymi.</a:t>
            </a:r>
            <a:endParaRPr lang="pl-PL" i="1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BE7B4EA-BF3B-C748-7060-A75534C99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8" y="3076575"/>
            <a:ext cx="3448049" cy="31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A73F1-7F7F-DD87-E33D-059A325CE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A20524-DD0A-E298-C9F9-A61D8E58A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/>
          <a:lstStyle/>
          <a:p>
            <a:r>
              <a:rPr lang="pl-PL" dirty="0"/>
              <a:t>Analiza Biznesowa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DFA7A6FC-FB85-FE81-DCC9-DC68F804F94E}"/>
              </a:ext>
            </a:extLst>
          </p:cNvPr>
          <p:cNvSpPr txBox="1"/>
          <p:nvPr/>
        </p:nvSpPr>
        <p:spPr>
          <a:xfrm>
            <a:off x="0" y="3752850"/>
            <a:ext cx="344804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Obszar: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/>
            <a:r>
              <a:rPr lang="pl-PL" dirty="0">
                <a:solidFill>
                  <a:schemeClr val="bg1"/>
                </a:solidFill>
              </a:rPr>
              <a:t>Obsługa pacjenta w przychodni: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Rejestracja wizyty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Udzielenie świadczenia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Wystawianie recepty</a:t>
            </a:r>
          </a:p>
          <a:p>
            <a:pPr marL="285750" indent="-285750">
              <a:buFontTx/>
              <a:buChar char="-"/>
            </a:pPr>
            <a:r>
              <a:rPr lang="pl-PL" dirty="0">
                <a:solidFill>
                  <a:schemeClr val="bg1"/>
                </a:solidFill>
              </a:rPr>
              <a:t>Rozliczenie z NFZ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30970A8-C59E-5046-42BF-84DCCAE9F113}"/>
              </a:ext>
            </a:extLst>
          </p:cNvPr>
          <p:cNvSpPr txBox="1"/>
          <p:nvPr/>
        </p:nvSpPr>
        <p:spPr>
          <a:xfrm>
            <a:off x="-4256" y="2698016"/>
            <a:ext cx="34480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Dziedzina: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/>
            <a:r>
              <a:rPr lang="pl-PL" dirty="0">
                <a:solidFill>
                  <a:schemeClr val="bg1"/>
                </a:solidFill>
              </a:rPr>
              <a:t>Przychodnia Medyczna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B6E0D21-AAE6-5CCD-5ACB-1BB469DFEB2B}"/>
              </a:ext>
            </a:extLst>
          </p:cNvPr>
          <p:cNvSpPr txBox="1"/>
          <p:nvPr/>
        </p:nvSpPr>
        <p:spPr>
          <a:xfrm>
            <a:off x="3448049" y="781050"/>
            <a:ext cx="837247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Analiza procesów biznesowych</a:t>
            </a:r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endParaRPr lang="pl-PL" b="1" i="1" dirty="0"/>
          </a:p>
          <a:p>
            <a:pPr algn="ctr"/>
            <a:r>
              <a:rPr lang="pl-PL" sz="1200" dirty="0"/>
              <a:t>Identyfikacja procesów biznesowych i aktorów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592AE85-8C21-FDF9-60D5-F6F9EF0C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643" y="1237918"/>
            <a:ext cx="7621064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92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9A66-6AB2-0FE0-5FA1-37EAC2D4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4A10D0-04E2-2A15-89C4-26B1B6D0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/>
          <a:lstStyle/>
          <a:p>
            <a:r>
              <a:rPr lang="pl-PL" dirty="0"/>
              <a:t>Analiza Wymagań SI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4C102E7-4761-87CA-B71D-FD62E100949C}"/>
              </a:ext>
            </a:extLst>
          </p:cNvPr>
          <p:cNvSpPr txBox="1"/>
          <p:nvPr/>
        </p:nvSpPr>
        <p:spPr>
          <a:xfrm>
            <a:off x="0" y="2505075"/>
            <a:ext cx="344804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Cel główny: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/>
            <a:r>
              <a:rPr lang="pl-PL" dirty="0">
                <a:solidFill>
                  <a:schemeClr val="bg1"/>
                </a:solidFill>
              </a:rPr>
              <a:t>Usprawnienie i automatyzacja procesów obsługi pacjenta, prowadzenia dokumentacji medycznej, rozliczeń oraz zarządzania infrastrukturą              w przychodni medycznej poprzez wdrożenie zintegrowanego</a:t>
            </a:r>
          </a:p>
          <a:p>
            <a:pPr algn="ctr"/>
            <a:r>
              <a:rPr lang="pl-PL" dirty="0">
                <a:solidFill>
                  <a:schemeClr val="bg1"/>
                </a:solidFill>
              </a:rPr>
              <a:t>systemu informatycznego.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8494A87-F4B7-A125-07F2-B967067FD9F9}"/>
              </a:ext>
            </a:extLst>
          </p:cNvPr>
          <p:cNvSpPr txBox="1"/>
          <p:nvPr/>
        </p:nvSpPr>
        <p:spPr>
          <a:xfrm>
            <a:off x="3448049" y="266700"/>
            <a:ext cx="8372475" cy="6417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b="1" i="1" dirty="0"/>
              <a:t>Wymagania funkcjonalne: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umożliwiać rejestratorom dodawanie nowych pacjentów oraz rezerwację terminów wizyt lekarskich.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pozwolić lekarzom na wprowadzanie i przeglądanie historii choroby pacjenta w elektronicznej dokumentacji medycznej.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umożliwić lekarzom wystawianie e-recept oraz e-skierowań i automatycznie przesyłać je do systemu e-Zdrowie (P1).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powinien umożliwiać kasjerkom rejestrowanie płatności i wystawianie faktur/paragonów za usługi dodatkowe.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automatycznie generować okresowe zestawienia zrealizowanych usług w formacie wymaganym przez NFZ.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umożliwiać osobom zarządzającym układanie grafików pracy lekarzy, w tym przypisywanie ich do konkretnych gabinetów na podstawie dostępności stacjonarnego wyposażenia medycznego.</a:t>
            </a:r>
          </a:p>
          <a:p>
            <a:pPr>
              <a:spcAft>
                <a:spcPts val="600"/>
              </a:spcAft>
            </a:pPr>
            <a:endParaRPr lang="pl-PL" sz="1600" dirty="0"/>
          </a:p>
          <a:p>
            <a:pPr>
              <a:spcAft>
                <a:spcPts val="600"/>
              </a:spcAft>
            </a:pPr>
            <a:r>
              <a:rPr lang="pl-PL" b="1" i="1" dirty="0"/>
              <a:t>Wymagania</a:t>
            </a:r>
            <a:r>
              <a:rPr lang="pl-PL" sz="1600" b="1" i="1" dirty="0"/>
              <a:t> </a:t>
            </a:r>
            <a:r>
              <a:rPr lang="pl-PL" b="1" i="1" dirty="0"/>
              <a:t>niefunkcjonalne</a:t>
            </a:r>
            <a:r>
              <a:rPr lang="pl-PL" sz="1600" b="1" dirty="0"/>
              <a:t>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zapewniać wysoki poziom bezpieczeństwa i szyfrowania danych osobowych oraz medycznych (zgodnie z RODO).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powinien posiadać intuicyjny graficzny interfejs użytkownika (GUI), łatwy w obsłudze dla personelu medycznego i administracyjnego.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l-PL" sz="1600" dirty="0"/>
              <a:t>System musi być stabilny i dostępny w godzinach pracy przychodni, a ewentualny moduł rejestracji internetowej w trybie 24/7</a:t>
            </a:r>
          </a:p>
        </p:txBody>
      </p:sp>
    </p:spTree>
    <p:extLst>
      <p:ext uri="{BB962C8B-B14F-4D97-AF65-F5344CB8AC3E}">
        <p14:creationId xmlns:p14="http://schemas.microsoft.com/office/powerpoint/2010/main" val="267137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A298-FEBE-9CDA-9547-0DD97EA8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BF2C1E-A7E4-1794-497A-29BF70DD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>
            <a:normAutofit fontScale="90000"/>
          </a:bodyPr>
          <a:lstStyle/>
          <a:p>
            <a:r>
              <a:rPr lang="pl-PL" dirty="0"/>
              <a:t>Analiza Funkcjonalności SI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396C064-C1AF-C5A7-FE36-F329FF78D9F2}"/>
              </a:ext>
            </a:extLst>
          </p:cNvPr>
          <p:cNvSpPr txBox="1"/>
          <p:nvPr/>
        </p:nvSpPr>
        <p:spPr>
          <a:xfrm>
            <a:off x="0" y="2047875"/>
            <a:ext cx="344804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>
                <a:solidFill>
                  <a:schemeClr val="bg1"/>
                </a:solidFill>
              </a:rPr>
              <a:t>Scenariusze przypadków użycia: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UC-01 </a:t>
            </a:r>
          </a:p>
          <a:p>
            <a:r>
              <a:rPr lang="pl-PL" dirty="0">
                <a:solidFill>
                  <a:schemeClr val="bg1"/>
                </a:solidFill>
              </a:rPr>
              <a:t>Rejestracja nowego pacjenta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UC-02</a:t>
            </a:r>
          </a:p>
          <a:p>
            <a:r>
              <a:rPr lang="pl-PL" dirty="0">
                <a:solidFill>
                  <a:schemeClr val="bg1"/>
                </a:solidFill>
              </a:rPr>
              <a:t>Umówienie wizyty przez pacjenta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UC-03</a:t>
            </a:r>
          </a:p>
          <a:p>
            <a:r>
              <a:rPr lang="pl-PL" dirty="0">
                <a:solidFill>
                  <a:schemeClr val="bg1"/>
                </a:solidFill>
              </a:rPr>
              <a:t>Wystawienie e-recepty przez lekarza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UC-04</a:t>
            </a:r>
          </a:p>
          <a:p>
            <a:r>
              <a:rPr lang="pl-PL" dirty="0">
                <a:solidFill>
                  <a:schemeClr val="bg1"/>
                </a:solidFill>
              </a:rPr>
              <a:t>Wygenerowanie zestawienia NFZ</a:t>
            </a:r>
          </a:p>
          <a:p>
            <a:endParaRPr lang="pl-PL" sz="800" dirty="0">
              <a:solidFill>
                <a:schemeClr val="bg1"/>
              </a:solidFill>
            </a:endParaRPr>
          </a:p>
          <a:p>
            <a:r>
              <a:rPr lang="pl-PL" dirty="0">
                <a:solidFill>
                  <a:schemeClr val="bg1"/>
                </a:solidFill>
              </a:rPr>
              <a:t>UC-05</a:t>
            </a:r>
          </a:p>
          <a:p>
            <a:r>
              <a:rPr lang="pl-PL" dirty="0">
                <a:solidFill>
                  <a:schemeClr val="bg1"/>
                </a:solidFill>
              </a:rPr>
              <a:t>Odwołanie wizyty przez pacjenta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49BF3C0-9269-F468-3042-8A34F2550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48" y="1457039"/>
            <a:ext cx="8038025" cy="4419886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205A3909-E3A1-3138-5911-ECDEAF070F2F}"/>
              </a:ext>
            </a:extLst>
          </p:cNvPr>
          <p:cNvSpPr txBox="1"/>
          <p:nvPr/>
        </p:nvSpPr>
        <p:spPr>
          <a:xfrm>
            <a:off x="3448049" y="819150"/>
            <a:ext cx="83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Systemowy diagram przypadków użycia</a:t>
            </a:r>
          </a:p>
        </p:txBody>
      </p:sp>
    </p:spTree>
    <p:extLst>
      <p:ext uri="{BB962C8B-B14F-4D97-AF65-F5344CB8AC3E}">
        <p14:creationId xmlns:p14="http://schemas.microsoft.com/office/powerpoint/2010/main" val="250622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D808-03B4-35CB-2E92-EB36B165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080812-1CAE-B203-DA70-73896E673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>
            <a:normAutofit/>
          </a:bodyPr>
          <a:lstStyle/>
          <a:p>
            <a:r>
              <a:rPr lang="pl-PL" dirty="0"/>
              <a:t>Modelowanie Analityczne SI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C80E873-1EEC-E16F-547B-37724193AA3B}"/>
              </a:ext>
            </a:extLst>
          </p:cNvPr>
          <p:cNvSpPr txBox="1"/>
          <p:nvPr/>
        </p:nvSpPr>
        <p:spPr>
          <a:xfrm>
            <a:off x="0" y="2828925"/>
            <a:ext cx="34480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Identyfikacja klas analitycznych: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Na podstawie analizy scenariuszy</a:t>
            </a:r>
          </a:p>
          <a:p>
            <a:pPr algn="ct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 UC-01 .. UC-05</a:t>
            </a:r>
          </a:p>
          <a:p>
            <a:pPr algn="ct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Definiujemy klasy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EA99DD4-3A89-9D91-57CF-C4153EB38CC4}"/>
              </a:ext>
            </a:extLst>
          </p:cNvPr>
          <p:cNvSpPr txBox="1"/>
          <p:nvPr/>
        </p:nvSpPr>
        <p:spPr>
          <a:xfrm>
            <a:off x="3448049" y="438150"/>
            <a:ext cx="836295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Klasy graniczne (</a:t>
            </a:r>
            <a:r>
              <a:rPr lang="pl-PL" b="1" i="1" dirty="0" err="1"/>
              <a:t>Boundary</a:t>
            </a:r>
            <a:r>
              <a:rPr lang="pl-PL" b="1" i="1" dirty="0"/>
              <a:t>) </a:t>
            </a:r>
          </a:p>
          <a:p>
            <a:r>
              <a:rPr lang="pl-PL" sz="1600" b="1" i="1" dirty="0"/>
              <a:t>(Modeluje interakcje użytkowników z systemem oraz interfejsy systemów zewnętrznych)</a:t>
            </a:r>
          </a:p>
          <a:p>
            <a:r>
              <a:rPr lang="pl-PL" sz="1200" b="1" i="1" dirty="0"/>
              <a:t>• Formularz Rejestracji – </a:t>
            </a:r>
            <a:r>
              <a:rPr lang="pl-PL" sz="1200" i="1" dirty="0"/>
              <a:t>ekran wprowadzania danych nowego pacjenta.</a:t>
            </a:r>
          </a:p>
          <a:p>
            <a:r>
              <a:rPr lang="pl-PL" sz="1200" b="1" i="1" dirty="0"/>
              <a:t>• Okno Rezerwacji Wizyty – </a:t>
            </a:r>
            <a:r>
              <a:rPr lang="pl-PL" sz="1200" i="1" dirty="0"/>
              <a:t>interfejs wyboru lekarza i terminu.</a:t>
            </a:r>
          </a:p>
          <a:p>
            <a:r>
              <a:rPr lang="pl-PL" sz="1200" b="1" i="1" dirty="0"/>
              <a:t>• Formularz e-Recepty – </a:t>
            </a:r>
            <a:r>
              <a:rPr lang="pl-PL" sz="1200" i="1" dirty="0"/>
              <a:t>ekran wystawiania dokumentów medycznych.</a:t>
            </a:r>
          </a:p>
          <a:p>
            <a:r>
              <a:rPr lang="pl-PL" sz="1200" b="1" i="1" dirty="0"/>
              <a:t>• Panel Raportów NFZ – </a:t>
            </a:r>
            <a:r>
              <a:rPr lang="pl-PL" sz="1200" i="1" dirty="0"/>
              <a:t>interfejs zarządzania rozliczeniami.</a:t>
            </a:r>
          </a:p>
          <a:p>
            <a:r>
              <a:rPr lang="pl-PL" sz="1200" b="1" i="1" dirty="0"/>
              <a:t>• Okno "Moje Wizyty„ – </a:t>
            </a:r>
            <a:r>
              <a:rPr lang="pl-PL" sz="1200" i="1" dirty="0"/>
              <a:t>widok listy zaplanowanych wizyt pacjenta.</a:t>
            </a:r>
          </a:p>
          <a:p>
            <a:r>
              <a:rPr lang="pl-PL" sz="1200" b="1" i="1" dirty="0"/>
              <a:t>• API P1 – </a:t>
            </a:r>
            <a:r>
              <a:rPr lang="pl-PL" sz="1200" i="1" dirty="0"/>
              <a:t>interfejs komunikacyjny z systemem e-Zdrowie.</a:t>
            </a:r>
          </a:p>
          <a:p>
            <a:r>
              <a:rPr lang="pl-PL" sz="1200" b="1" i="1" dirty="0"/>
              <a:t>• API NFZ – </a:t>
            </a:r>
            <a:r>
              <a:rPr lang="pl-PL" sz="1200" i="1" dirty="0"/>
              <a:t>interfejs komunikacyjny z systemem rozliczeniowym płatnika.</a:t>
            </a:r>
          </a:p>
          <a:p>
            <a:endParaRPr lang="pl-PL" sz="1200" b="1" i="1" dirty="0"/>
          </a:p>
          <a:p>
            <a:r>
              <a:rPr lang="pl-PL" b="1" i="1" dirty="0"/>
              <a:t>Klasy sterujące (Control)</a:t>
            </a:r>
          </a:p>
          <a:p>
            <a:r>
              <a:rPr lang="pl-PL" sz="1600" b="1" i="1" dirty="0"/>
              <a:t>(Odpowiadają za logikę biznesową i koordynacje z systemem rozliczeniowym płatnika)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Rejestracja Pacjenta –</a:t>
            </a:r>
            <a:r>
              <a:rPr lang="pl-PL" sz="1200" dirty="0"/>
              <a:t> logika walidacji i zapisu danych pacjenta.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Rezerwacja Wizyty –</a:t>
            </a:r>
            <a:r>
              <a:rPr lang="pl-PL" sz="1200" dirty="0"/>
              <a:t> proces zarządzania zajętością terminów.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Wystawienie e-Recepty –</a:t>
            </a:r>
            <a:r>
              <a:rPr lang="pl-PL" sz="1200" dirty="0"/>
              <a:t> logika generowania i wysyłki dokumentu medycznego.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Rozliczenie NFZ –</a:t>
            </a:r>
            <a:r>
              <a:rPr lang="pl-PL" sz="1200" dirty="0"/>
              <a:t> koordynacja agregacji usług i generowania raportów XML.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Odwołanie Wizyty –</a:t>
            </a:r>
            <a:r>
              <a:rPr lang="pl-PL" sz="1200" dirty="0"/>
              <a:t> logika zwalniania zarezerwowanych terminów</a:t>
            </a:r>
          </a:p>
          <a:p>
            <a:endParaRPr lang="pl-PL" sz="1200" b="1" i="1" dirty="0"/>
          </a:p>
          <a:p>
            <a:r>
              <a:rPr lang="pl-PL" b="1" i="1" dirty="0"/>
              <a:t>Klasy przechowujące (</a:t>
            </a:r>
            <a:r>
              <a:rPr lang="pl-PL" b="1" i="1" dirty="0" err="1"/>
              <a:t>Entity</a:t>
            </a:r>
            <a:r>
              <a:rPr lang="pl-PL" b="1" i="1" dirty="0"/>
              <a:t>)</a:t>
            </a:r>
          </a:p>
          <a:p>
            <a:r>
              <a:rPr lang="pl-PL" sz="1600" b="1" i="1" dirty="0"/>
              <a:t>(Reprezentują </a:t>
            </a:r>
            <a:r>
              <a:rPr lang="pl-PL" sz="1600" b="1" i="1" dirty="0" err="1"/>
              <a:t>trawła</a:t>
            </a:r>
            <a:r>
              <a:rPr lang="pl-PL" sz="1600" b="1" i="1" dirty="0"/>
              <a:t> struktury danych w systemie)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Pacjent –</a:t>
            </a:r>
            <a:r>
              <a:rPr lang="pl-PL" sz="1200" dirty="0"/>
              <a:t> dane demograficzne i kontaktowe.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Dokumentacja Medyczna </a:t>
            </a:r>
            <a:r>
              <a:rPr lang="pl-PL" sz="1200" dirty="0"/>
              <a:t>– historia leczenia i badań.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Użytkownik </a:t>
            </a:r>
            <a:r>
              <a:rPr lang="pl-PL" sz="1200" dirty="0"/>
              <a:t>– dane autoryzacyjne personelu i pacjentów.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Wizyta –</a:t>
            </a:r>
            <a:r>
              <a:rPr lang="pl-PL" sz="1200" dirty="0"/>
              <a:t> rekord konkretnego spotkania lekarskiego.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Lekarz –</a:t>
            </a:r>
            <a:r>
              <a:rPr lang="pl-PL" sz="1200" dirty="0"/>
              <a:t> dane o personelu medycznym i specjalizacjach.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Termin –</a:t>
            </a:r>
            <a:r>
              <a:rPr lang="pl-PL" sz="1200" dirty="0"/>
              <a:t> rekordy dostępności czasowej gabinetów i personelu.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e-Recepta / Lek –</a:t>
            </a:r>
            <a:r>
              <a:rPr lang="pl-PL" sz="1200" dirty="0"/>
              <a:t> szczegóły przepisanych preparatów.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Usługa Medyczna</a:t>
            </a:r>
            <a:r>
              <a:rPr lang="pl-PL" sz="1200" dirty="0"/>
              <a:t> </a:t>
            </a:r>
            <a:r>
              <a:rPr lang="pl-PL" sz="1200" b="1" dirty="0"/>
              <a:t>–</a:t>
            </a:r>
            <a:r>
              <a:rPr lang="pl-PL" sz="1200" dirty="0"/>
              <a:t> kody i opisy zabiegów podlegających raportowaniu. </a:t>
            </a:r>
          </a:p>
          <a:p>
            <a:r>
              <a:rPr lang="pl-PL" sz="1200" dirty="0"/>
              <a:t>• </a:t>
            </a:r>
            <a:r>
              <a:rPr lang="pl-PL" sz="1200" b="1" dirty="0"/>
              <a:t>Raport NFZ</a:t>
            </a:r>
            <a:r>
              <a:rPr lang="pl-PL" sz="1200" dirty="0"/>
              <a:t> </a:t>
            </a:r>
            <a:r>
              <a:rPr lang="pl-PL" sz="1200" b="1" dirty="0"/>
              <a:t>–</a:t>
            </a:r>
            <a:r>
              <a:rPr lang="pl-PL" sz="1200" dirty="0"/>
              <a:t> zbiór zarchiwizowanych danych rozliczeniowych.</a:t>
            </a:r>
            <a:endParaRPr lang="pl-PL" sz="1200" b="1" i="1" dirty="0"/>
          </a:p>
        </p:txBody>
      </p:sp>
    </p:spTree>
    <p:extLst>
      <p:ext uri="{BB962C8B-B14F-4D97-AF65-F5344CB8AC3E}">
        <p14:creationId xmlns:p14="http://schemas.microsoft.com/office/powerpoint/2010/main" val="366793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86EA-521D-7291-1068-E03E237E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2093AF-5AE6-E8E1-CD20-2B076D07E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>
            <a:normAutofit/>
          </a:bodyPr>
          <a:lstStyle/>
          <a:p>
            <a:r>
              <a:rPr lang="pl-PL" dirty="0"/>
              <a:t>Modelowanie Danych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8ADEEB5-872F-DBB1-FEE9-B20D93566F70}"/>
              </a:ext>
            </a:extLst>
          </p:cNvPr>
          <p:cNvSpPr txBox="1"/>
          <p:nvPr/>
        </p:nvSpPr>
        <p:spPr>
          <a:xfrm>
            <a:off x="0" y="2828925"/>
            <a:ext cx="344804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Konceptualny diagram klas: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Przedstawia statyczną strukturę danych systemu oraz (asocjacje, agregacje) między kluczowymi bytami przychodni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34C5DFB-D1D2-1338-8E1E-BE4F7256E011}"/>
              </a:ext>
            </a:extLst>
          </p:cNvPr>
          <p:cNvSpPr txBox="1"/>
          <p:nvPr/>
        </p:nvSpPr>
        <p:spPr>
          <a:xfrm>
            <a:off x="3448049" y="790575"/>
            <a:ext cx="83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Konceptualny diagram klas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4DC1726-2B06-2406-343F-C662B8C9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697" y="1504427"/>
            <a:ext cx="7563906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1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1CEF-61A5-00B3-AAA7-DF05197C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97F795-76E7-B1FE-AE1C-BD5EFC75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>
            <a:normAutofit/>
          </a:bodyPr>
          <a:lstStyle/>
          <a:p>
            <a:r>
              <a:rPr lang="pl-PL" dirty="0"/>
              <a:t>Modelowanie Danych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6147250-0A93-5FA3-F4BF-0C58A724CC96}"/>
              </a:ext>
            </a:extLst>
          </p:cNvPr>
          <p:cNvSpPr txBox="1"/>
          <p:nvPr/>
        </p:nvSpPr>
        <p:spPr>
          <a:xfrm>
            <a:off x="0" y="2828925"/>
            <a:ext cx="34480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Diagram obiektów: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Opis wybranej sytuacji występującej w projektowanym SI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B90FA04-0FBC-0A9A-129C-E434EFAC89FF}"/>
              </a:ext>
            </a:extLst>
          </p:cNvPr>
          <p:cNvSpPr txBox="1"/>
          <p:nvPr/>
        </p:nvSpPr>
        <p:spPr>
          <a:xfrm>
            <a:off x="3448049" y="790575"/>
            <a:ext cx="8362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Diagramy obiektów</a:t>
            </a:r>
          </a:p>
          <a:p>
            <a:r>
              <a:rPr lang="pl-PL" b="1" i="1" dirty="0"/>
              <a:t>(Migawka stanu systemu dla wizyty przykładowego pacjenta Jana Kowalskiego)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2491536-3B27-5091-162B-EE774ECA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196" y="1890455"/>
            <a:ext cx="7763958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7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C97B-B39F-B61E-5474-9A5EF03B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F20706-B76D-7396-AAAB-FE6B657D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771412"/>
            <a:ext cx="3452306" cy="1486013"/>
          </a:xfrm>
        </p:spPr>
        <p:txBody>
          <a:bodyPr>
            <a:normAutofit/>
          </a:bodyPr>
          <a:lstStyle/>
          <a:p>
            <a:r>
              <a:rPr lang="pl-PL" dirty="0"/>
              <a:t>Projektowanie Danych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77C9D66-A17F-5A0C-9668-3114D97207C5}"/>
              </a:ext>
            </a:extLst>
          </p:cNvPr>
          <p:cNvSpPr txBox="1"/>
          <p:nvPr/>
        </p:nvSpPr>
        <p:spPr>
          <a:xfrm>
            <a:off x="0" y="2828925"/>
            <a:ext cx="344804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Implementacyjny diagram klas: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Uszczegóławia model analityczny o typy danych specyficznych dla systemów bazodanowych oraz definiuje klucz główny.</a:t>
            </a:r>
          </a:p>
          <a:p>
            <a:pPr algn="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Diagram służy jako bezpośredni wzorzec do implementacji baz danych.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3877A7E-B113-D1E8-0FE8-C0F6BCA74513}"/>
              </a:ext>
            </a:extLst>
          </p:cNvPr>
          <p:cNvSpPr txBox="1"/>
          <p:nvPr/>
        </p:nvSpPr>
        <p:spPr>
          <a:xfrm>
            <a:off x="3438524" y="390525"/>
            <a:ext cx="83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Implementacyjny diagram klas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9CCCC3B-BB55-A27E-84BD-920649AF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899" y="769382"/>
            <a:ext cx="7706801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E6E5-7258-34C1-448C-62D39D2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8F9D88-9028-AB89-5A4E-00E018CC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56" y="952387"/>
            <a:ext cx="3452306" cy="1486013"/>
          </a:xfrm>
        </p:spPr>
        <p:txBody>
          <a:bodyPr>
            <a:normAutofit fontScale="90000"/>
          </a:bodyPr>
          <a:lstStyle/>
          <a:p>
            <a:r>
              <a:rPr lang="pl-PL" dirty="0"/>
              <a:t>Projektowanie Interfejsu użytkownika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E41B60B-6EA3-F0FB-5F02-FEA0E6E72A31}"/>
              </a:ext>
            </a:extLst>
          </p:cNvPr>
          <p:cNvSpPr txBox="1"/>
          <p:nvPr/>
        </p:nvSpPr>
        <p:spPr>
          <a:xfrm>
            <a:off x="0" y="2828925"/>
            <a:ext cx="34480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>
                <a:solidFill>
                  <a:schemeClr val="bg1"/>
                </a:solidFill>
              </a:rPr>
              <a:t>Szkic lub Makieta lub Prototyp:</a:t>
            </a:r>
          </a:p>
          <a:p>
            <a:endParaRPr lang="pl-PL" sz="800" i="1" dirty="0">
              <a:solidFill>
                <a:schemeClr val="bg1"/>
              </a:solidFill>
            </a:endParaRPr>
          </a:p>
          <a:p>
            <a:endParaRPr lang="pl-PL" sz="800" i="1" dirty="0">
              <a:solidFill>
                <a:schemeClr val="bg1"/>
              </a:solidFill>
            </a:endParaRPr>
          </a:p>
          <a:p>
            <a:pPr algn="r">
              <a:spcAft>
                <a:spcPts val="600"/>
              </a:spcAft>
            </a:pPr>
            <a:r>
              <a:rPr lang="pl-PL" dirty="0">
                <a:solidFill>
                  <a:schemeClr val="bg1"/>
                </a:solidFill>
              </a:rPr>
              <a:t>Przedstawia graficzny przykładowy układ menu, formularzy, raportów.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470B532-ED77-903E-AECC-6FA79603C931}"/>
              </a:ext>
            </a:extLst>
          </p:cNvPr>
          <p:cNvSpPr txBox="1"/>
          <p:nvPr/>
        </p:nvSpPr>
        <p:spPr>
          <a:xfrm>
            <a:off x="3448049" y="390525"/>
            <a:ext cx="8362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/>
              <a:t>Makieta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874AE4EF-9DB3-6D3D-8717-8A150BABA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934" y="759857"/>
            <a:ext cx="5206131" cy="3146881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6DB59817-0E98-8DB7-3D8B-0ED49F92D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755" y="1855559"/>
            <a:ext cx="5234058" cy="3146882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AD8F1245-6CD1-E816-49A1-9AABDEABF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646" y="2681328"/>
            <a:ext cx="5213238" cy="341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20476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276_TF00804820.potx" id="{7F3D9C77-8EE5-40CF-B728-93CBF4F9B5C1}" vid="{67EABDCB-372C-4212-9A0F-A3B4DA27AAFE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BD8AF61-0EFE-4B67-AC63-165AA360F9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EA0254-3646-4633-AE89-92733C2D69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A9C098-A058-4A59-AA77-E2402053F600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purl.org/dc/terms/"/>
    <ds:schemaRef ds:uri="16c05727-aa75-4e4a-9b5f-8a80a1165891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Projekt Ramka</Template>
  <TotalTime>166</TotalTime>
  <Words>740</Words>
  <Application>Microsoft Office PowerPoint</Application>
  <PresentationFormat>Panoramiczny</PresentationFormat>
  <Paragraphs>149</Paragraphs>
  <Slides>10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5" baseType="lpstr">
      <vt:lpstr>Calibri</vt:lpstr>
      <vt:lpstr>Corbel</vt:lpstr>
      <vt:lpstr>Wingdings</vt:lpstr>
      <vt:lpstr>Wingdings 2</vt:lpstr>
      <vt:lpstr>Ramka</vt:lpstr>
      <vt:lpstr>Projektowanie  Systemów  Informatycznych  Przychodnia Medyczna</vt:lpstr>
      <vt:lpstr>Analiza Biznesowa</vt:lpstr>
      <vt:lpstr>Analiza Biznesowa</vt:lpstr>
      <vt:lpstr>Analiza Wymagań SI</vt:lpstr>
      <vt:lpstr>Analiza Funkcjonalności SI</vt:lpstr>
      <vt:lpstr>Modelowanie Analityczne SI</vt:lpstr>
      <vt:lpstr>Modelowanie Danych</vt:lpstr>
      <vt:lpstr>Modelowanie Danych</vt:lpstr>
      <vt:lpstr>Projektowanie Danych</vt:lpstr>
      <vt:lpstr>Projektowanie Interfejsu użytkownika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</dc:creator>
  <cp:lastModifiedBy>Wojciech</cp:lastModifiedBy>
  <cp:revision>3</cp:revision>
  <dcterms:created xsi:type="dcterms:W3CDTF">2026-05-20T19:12:58Z</dcterms:created>
  <dcterms:modified xsi:type="dcterms:W3CDTF">2026-05-20T21:59:22Z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