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4"/>
  </p:sldMasterIdLst>
  <p:notesMasterIdLst>
    <p:notesMasterId r:id="rId15"/>
  </p:notesMasterIdLst>
  <p:handoutMasterIdLst>
    <p:handoutMasterId r:id="rId16"/>
  </p:handoutMasterIdLst>
  <p:sldIdLst>
    <p:sldId id="264" r:id="rId5"/>
    <p:sldId id="265" r:id="rId6"/>
    <p:sldId id="268" r:id="rId7"/>
    <p:sldId id="269" r:id="rId8"/>
    <p:sldId id="267" r:id="rId9"/>
    <p:sldId id="270" r:id="rId10"/>
    <p:sldId id="271" r:id="rId11"/>
    <p:sldId id="275" r:id="rId12"/>
    <p:sldId id="273" r:id="rId13"/>
    <p:sldId id="274" r:id="rId14"/>
  </p:sldIdLst>
  <p:sldSz cx="12192000" cy="6858000"/>
  <p:notesSz cx="7104063" cy="10234613"/>
  <p:defaultTextStyle>
    <a:defPPr rtl="0">
      <a:defRPr lang="pl-pl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1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80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>
            <a:extLst>
              <a:ext uri="{FF2B5EF4-FFF2-40B4-BE49-F238E27FC236}">
                <a16:creationId xmlns:a16="http://schemas.microsoft.com/office/drawing/2014/main" id="{FCD5339C-519D-4230-BF0C-1BF09A2FE2D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pPr rtl="0"/>
            <a:endParaRPr lang="pl-PL" dirty="0"/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E3982FE9-1227-454F-8FBE-5D49EEFEFD5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pPr rtl="0"/>
            <a:fld id="{ECB7BE63-991A-4DB2-908D-3301DF780BE3}" type="datetime1">
              <a:rPr lang="pl-PL" smtClean="0"/>
              <a:t>21.05.2026</a:t>
            </a:fld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C2C515AC-387D-4DC2-8066-2F960E15110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pPr rtl="0"/>
            <a:endParaRPr lang="pl-PL" dirty="0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BCA55534-4B86-498E-A9D9-C98A3290DCE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pPr rtl="0"/>
            <a:fld id="{4D9C5148-8ED6-434E-BA59-EF48324382B2}" type="slidenum">
              <a:rPr lang="pl-PL" smtClean="0"/>
              <a:t>‹#›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6389953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pPr rtl="0"/>
            <a:endParaRPr lang="pl-PL" noProof="0" dirty="0"/>
          </a:p>
        </p:txBody>
      </p:sp>
      <p:sp>
        <p:nvSpPr>
          <p:cNvPr id="3" name="Data — symbol zastępczy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594B859C-63A4-4C8D-AB58-B0EBA6CDD873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4" name="Obraz slajdu — symbol zastępczy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pPr rtl="0"/>
            <a:endParaRPr lang="pl-PL" noProof="0" dirty="0"/>
          </a:p>
        </p:txBody>
      </p:sp>
      <p:sp>
        <p:nvSpPr>
          <p:cNvPr id="5" name="Notatki — symbol zastępczy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 rtl="0"/>
            <a:r>
              <a:rPr lang="pl-PL" noProof="0" dirty="0"/>
              <a:t>Kliknij, aby edytować style wzorca tekstu</a:t>
            </a:r>
          </a:p>
          <a:p>
            <a:pPr lvl="1" rtl="0"/>
            <a:r>
              <a:rPr lang="pl-PL" noProof="0" dirty="0"/>
              <a:t>Drugi poziom</a:t>
            </a:r>
          </a:p>
          <a:p>
            <a:pPr lvl="2" rtl="0"/>
            <a:r>
              <a:rPr lang="pl-PL" noProof="0" dirty="0"/>
              <a:t>Trzeci poziom</a:t>
            </a:r>
          </a:p>
          <a:p>
            <a:pPr lvl="3" rtl="0"/>
            <a:r>
              <a:rPr lang="pl-PL" noProof="0" dirty="0"/>
              <a:t>Czwarty poziom</a:t>
            </a:r>
          </a:p>
          <a:p>
            <a:pPr lvl="4" rtl="0"/>
            <a:r>
              <a:rPr lang="pl-PL" noProof="0" dirty="0"/>
              <a:t>Piąty poziom</a:t>
            </a:r>
          </a:p>
        </p:txBody>
      </p:sp>
      <p:sp>
        <p:nvSpPr>
          <p:cNvPr id="6" name="Stopka — symbol zastępczy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pPr rtl="0"/>
            <a:endParaRPr lang="pl-PL" noProof="0" dirty="0"/>
          </a:p>
        </p:txBody>
      </p:sp>
      <p:sp>
        <p:nvSpPr>
          <p:cNvPr id="7" name="Numer slajdu — symbol zastępczy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pPr rtl="0"/>
            <a:fld id="{CED33291-C0D9-4415-AEC4-F67D377A5ADC}" type="slidenum">
              <a:rPr lang="pl-PL" noProof="0" smtClean="0"/>
              <a:t>‹#›</a:t>
            </a:fld>
            <a:endParaRPr lang="pl-PL" noProof="0" dirty="0"/>
          </a:p>
        </p:txBody>
      </p:sp>
    </p:spTree>
    <p:extLst>
      <p:ext uri="{BB962C8B-B14F-4D97-AF65-F5344CB8AC3E}">
        <p14:creationId xmlns:p14="http://schemas.microsoft.com/office/powerpoint/2010/main" val="4290305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l-PL" dirty="0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ED33291-C0D9-4415-AEC4-F67D377A5ADC}" type="slidenum">
              <a:rPr lang="pl-PL" smtClean="0"/>
              <a:t>1</a:t>
            </a:fld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6736582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Prostokąt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rtlCol="0"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pPr rtl="0"/>
            <a:r>
              <a:rPr lang="pl-PL" noProof="0"/>
              <a:t>Kliknij, aby edytować styl</a:t>
            </a:r>
            <a:endParaRPr lang="pl-PL" noProof="0" dirty="0"/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pPr rtl="0"/>
            <a:r>
              <a:rPr lang="pl-PL" noProof="0"/>
              <a:t>Kliknij, aby edytować styl wzorca podtytułu</a:t>
            </a:r>
            <a:endParaRPr lang="pl-PL" noProof="0" dirty="0"/>
          </a:p>
        </p:txBody>
      </p:sp>
      <p:sp>
        <p:nvSpPr>
          <p:cNvPr id="4" name="Data — symbol zastępczy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F18F06DD-D829-48EE-80A8-E295FE858B72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5" name="Stopka — symbol zastępczy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 dirty="0"/>
          </a:p>
        </p:txBody>
      </p:sp>
      <p:sp>
        <p:nvSpPr>
          <p:cNvPr id="6" name="Numer slajdu — symbol zastępczy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noProof="0"/>
              <a:t>Kliknij, aby edytować styl</a:t>
            </a:r>
            <a:endParaRPr lang="pl-PL" noProof="0" dirty="0"/>
          </a:p>
        </p:txBody>
      </p:sp>
      <p:sp>
        <p:nvSpPr>
          <p:cNvPr id="3" name="Zawartość — symbol zastępczy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pl-PL" noProof="0"/>
              <a:t>Kliknij, aby edytować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  <a:endParaRPr lang="pl-PL" noProof="0" dirty="0"/>
          </a:p>
        </p:txBody>
      </p:sp>
      <p:sp>
        <p:nvSpPr>
          <p:cNvPr id="4" name="Data — symbol zastępczy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C172B919-10FD-4F45-BA7B-91491E9980DD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5" name="Stopka — symbol zastępczy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 dirty="0"/>
          </a:p>
        </p:txBody>
      </p:sp>
      <p:sp>
        <p:nvSpPr>
          <p:cNvPr id="6" name="Numer slajdu — symbol zastępczy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rtlCol="0"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</a:t>
            </a:r>
            <a:endParaRPr lang="pl-PL" noProof="0" dirty="0"/>
          </a:p>
        </p:txBody>
      </p:sp>
      <p:sp>
        <p:nvSpPr>
          <p:cNvPr id="3" name="Tekst — symbol zastępczy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rtlCol="0"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4" name="Data — symbol zastępczy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1778CBCE-04B6-44A8-891D-9F3836548498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5" name="Stopka — symbol zastępczy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 dirty="0"/>
          </a:p>
        </p:txBody>
      </p:sp>
      <p:sp>
        <p:nvSpPr>
          <p:cNvPr id="6" name="Numer slajdu — symbol zastępczy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noProof="0"/>
              <a:t>Kliknij, aby edytować styl</a:t>
            </a:r>
            <a:endParaRPr lang="pl-PL" noProof="0" dirty="0"/>
          </a:p>
        </p:txBody>
      </p:sp>
      <p:sp>
        <p:nvSpPr>
          <p:cNvPr id="3" name="Zawartość — symbol zastępczy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 rtlCol="0"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pl-PL" noProof="0"/>
              <a:t>Kliknij, aby edytować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  <a:endParaRPr lang="pl-PL" noProof="0" dirty="0"/>
          </a:p>
        </p:txBody>
      </p:sp>
      <p:sp>
        <p:nvSpPr>
          <p:cNvPr id="4" name="Zawartość — symbol zastępczy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 rtlCol="0"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pl-PL" noProof="0"/>
              <a:t>Kliknij, aby edytować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  <a:endParaRPr lang="pl-PL" noProof="0" dirty="0"/>
          </a:p>
        </p:txBody>
      </p:sp>
      <p:sp>
        <p:nvSpPr>
          <p:cNvPr id="8" name="Data — symbol zastępczy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97287D8B-F02B-4CDC-BAB9-C1ED8683A859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9" name="Stopka — symbol zastępczy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 dirty="0"/>
          </a:p>
        </p:txBody>
      </p:sp>
      <p:sp>
        <p:nvSpPr>
          <p:cNvPr id="10" name="Numer slajdu — symbol zastępczy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ytu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noProof="0"/>
              <a:t>Kliknij, aby edytować styl</a:t>
            </a:r>
            <a:endParaRPr lang="pl-PL" noProof="0" dirty="0"/>
          </a:p>
        </p:txBody>
      </p:sp>
      <p:sp>
        <p:nvSpPr>
          <p:cNvPr id="3" name="Tekst — symbol zastępczy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rtlCol="0"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4" name="Zawartość — symbol zastępczy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 rtlCol="0"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pl-PL" noProof="0"/>
              <a:t>Kliknij, aby edytować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  <a:endParaRPr lang="pl-PL" noProof="0" dirty="0"/>
          </a:p>
        </p:txBody>
      </p:sp>
      <p:sp>
        <p:nvSpPr>
          <p:cNvPr id="5" name="Tekst — symbol zastępczy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rtlCol="0"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6" name="Zawartość — symbol zastępczy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 rtlCol="0"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pl-PL" noProof="0"/>
              <a:t>Kliknij, aby edytować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  <a:endParaRPr lang="pl-PL" noProof="0" dirty="0"/>
          </a:p>
        </p:txBody>
      </p:sp>
      <p:sp>
        <p:nvSpPr>
          <p:cNvPr id="2" name="Data — symbol zastępczy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7236398D-084D-4D88-9EF5-0937EDBF21C9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11" name="Stopka — symbol zastępczy 10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 dirty="0"/>
          </a:p>
        </p:txBody>
      </p:sp>
      <p:sp>
        <p:nvSpPr>
          <p:cNvPr id="12" name="Numer slajdu — symbol zastępczy 11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ytuł 5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noProof="0"/>
              <a:t>Kliknij, aby edytować styl</a:t>
            </a:r>
            <a:endParaRPr lang="pl-PL" noProof="0" dirty="0"/>
          </a:p>
        </p:txBody>
      </p:sp>
      <p:sp>
        <p:nvSpPr>
          <p:cNvPr id="2" name="Data — symbol zastępczy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7298F8C9-EFF0-4305-8316-E2607CA522D4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7" name="Stopka — symbol zastępczy 6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 dirty="0"/>
          </a:p>
        </p:txBody>
      </p:sp>
      <p:sp>
        <p:nvSpPr>
          <p:cNvPr id="8" name="Numer slajdu — symbol zastępczy 7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a — symbol zastępczy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4C9AC502-E87D-474B-AC14-59D6DF714ED3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6" name="Stopka — symbol zastępczy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 dirty="0"/>
          </a:p>
        </p:txBody>
      </p:sp>
      <p:sp>
        <p:nvSpPr>
          <p:cNvPr id="7" name="Numer slajdu — symbol zastępczy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rtlCol="0" anchor="b">
            <a:normAutofit/>
          </a:bodyPr>
          <a:lstStyle>
            <a:lvl1pPr>
              <a:defRPr sz="3200" b="0" baseline="0"/>
            </a:lvl1pPr>
          </a:lstStyle>
          <a:p>
            <a:pPr rtl="0"/>
            <a:r>
              <a:rPr lang="pl-PL" noProof="0"/>
              <a:t>Kliknij, aby edytować styl</a:t>
            </a:r>
            <a:endParaRPr lang="pl-PL" noProof="0" dirty="0"/>
          </a:p>
        </p:txBody>
      </p:sp>
      <p:sp>
        <p:nvSpPr>
          <p:cNvPr id="3" name="Zawartość — symbol zastępczy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 rtlCol="0"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 rtl="0"/>
            <a:r>
              <a:rPr lang="pl-PL" noProof="0"/>
              <a:t>Kliknij, aby edytować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  <a:endParaRPr lang="pl-PL" noProof="0" dirty="0"/>
          </a:p>
        </p:txBody>
      </p:sp>
      <p:sp>
        <p:nvSpPr>
          <p:cNvPr id="4" name="Tekst — symbol zastępczy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rtlCol="0"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8" name="Data — symbol zastępczy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5758034A-C567-4920-81BD-BA3F9F4F167C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9" name="Stopka — symbol zastępczy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 dirty="0"/>
          </a:p>
        </p:txBody>
      </p:sp>
      <p:sp>
        <p:nvSpPr>
          <p:cNvPr id="10" name="Numer slajdu — symbol zastępczy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rtlCol="0" anchor="b">
            <a:normAutofit/>
          </a:bodyPr>
          <a:lstStyle>
            <a:lvl1pPr>
              <a:defRPr sz="3200" b="0"/>
            </a:lvl1pPr>
          </a:lstStyle>
          <a:p>
            <a:pPr rtl="0"/>
            <a:r>
              <a:rPr lang="pl-PL" noProof="0"/>
              <a:t>Kliknij, aby edytować styl</a:t>
            </a:r>
            <a:endParaRPr lang="pl-PL" noProof="0" dirty="0"/>
          </a:p>
        </p:txBody>
      </p:sp>
      <p:sp>
        <p:nvSpPr>
          <p:cNvPr id="3" name="Obraz — symbol zastępczy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pl-PL" noProof="0"/>
              <a:t>Kliknij ikonę, aby dodać obraz</a:t>
            </a:r>
            <a:endParaRPr lang="pl-PL" noProof="0" dirty="0"/>
          </a:p>
        </p:txBody>
      </p:sp>
      <p:sp>
        <p:nvSpPr>
          <p:cNvPr id="4" name="Tekst — symbol zastępczy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rtlCol="0"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8" name="Data — symbol zastępczy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19BF6858-5A1A-4753-899E-B35E2F86973D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9" name="Stopka — symbol zastępczy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 rtlCol="0"/>
          <a:lstStyle/>
          <a:p>
            <a:pPr rtl="0"/>
            <a:endParaRPr lang="pl-PL" noProof="0" dirty="0"/>
          </a:p>
        </p:txBody>
      </p:sp>
      <p:sp>
        <p:nvSpPr>
          <p:cNvPr id="10" name="Numer slajdu — symbol zastępczy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l-PL" noProof="0"/>
              <a:t>Kliknij, aby edytować styl</a:t>
            </a:r>
            <a:endParaRPr lang="pl-PL" noProof="0" dirty="0"/>
          </a:p>
        </p:txBody>
      </p:sp>
      <p:sp>
        <p:nvSpPr>
          <p:cNvPr id="3" name="Tekst pionowy — symbol zastępczy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/>
          <a:p>
            <a:pPr lvl="0" rtl="0"/>
            <a:r>
              <a:rPr lang="pl-PL" noProof="0"/>
              <a:t>Kliknij, aby edytować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  <a:endParaRPr lang="pl-PL" noProof="0" dirty="0"/>
          </a:p>
        </p:txBody>
      </p:sp>
      <p:sp>
        <p:nvSpPr>
          <p:cNvPr id="7" name="Data — symbol zastępczy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7A12EE9C-4551-4580-9B7A-A9284A1A871F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8" name="Stopka — symbol zastępczy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 dirty="0"/>
          </a:p>
        </p:txBody>
      </p:sp>
      <p:sp>
        <p:nvSpPr>
          <p:cNvPr id="9" name="Numer slajdu — symbol zastępczy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 rtlCol="0"/>
          <a:lstStyle/>
          <a:p>
            <a:pPr rtl="0"/>
            <a:r>
              <a:rPr lang="pl-PL" noProof="0"/>
              <a:t>Kliknij, aby edytować styl</a:t>
            </a:r>
            <a:endParaRPr lang="pl-PL" noProof="0" dirty="0"/>
          </a:p>
        </p:txBody>
      </p:sp>
      <p:sp>
        <p:nvSpPr>
          <p:cNvPr id="3" name="Tekst pionowy — symbol zastępczy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rtlCol="0" anchor="t"/>
          <a:lstStyle/>
          <a:p>
            <a:pPr lvl="0" rtl="0"/>
            <a:r>
              <a:rPr lang="pl-PL" noProof="0"/>
              <a:t>Kliknij, aby edytować style wzorca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  <a:endParaRPr lang="pl-PL" noProof="0" dirty="0"/>
          </a:p>
        </p:txBody>
      </p:sp>
      <p:sp>
        <p:nvSpPr>
          <p:cNvPr id="7" name="Data — symbol zastępczy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0851576C-4B99-41E5-9ECB-0D562F4DC922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8" name="Stopka — symbol zastępczy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l-PL" noProof="0" dirty="0"/>
          </a:p>
        </p:txBody>
      </p:sp>
      <p:sp>
        <p:nvSpPr>
          <p:cNvPr id="9" name="Numer slajdu — symbol zastępczy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ytuł — symbol zastępczy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l-PL" noProof="0" dirty="0"/>
              <a:t>Kliknij, aby edytować styl wzorca tytułu</a:t>
            </a:r>
          </a:p>
        </p:txBody>
      </p:sp>
      <p:sp>
        <p:nvSpPr>
          <p:cNvPr id="38" name="Prostokąt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kst — symbol zastępczy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pl-PL" noProof="0" dirty="0"/>
              <a:t>Kliknij, aby edytować style wzorca tekstu</a:t>
            </a:r>
          </a:p>
          <a:p>
            <a:pPr lvl="1" rtl="0"/>
            <a:r>
              <a:rPr lang="pl-PL" noProof="0" dirty="0"/>
              <a:t>Drugi poziom</a:t>
            </a:r>
          </a:p>
          <a:p>
            <a:pPr lvl="2" rtl="0"/>
            <a:r>
              <a:rPr lang="pl-PL" noProof="0" dirty="0"/>
              <a:t>Trzeci poziom</a:t>
            </a:r>
          </a:p>
          <a:p>
            <a:pPr lvl="3" rtl="0"/>
            <a:r>
              <a:rPr lang="pl-PL" noProof="0" dirty="0"/>
              <a:t>Czwarty poziom</a:t>
            </a:r>
          </a:p>
          <a:p>
            <a:pPr lvl="4" rtl="0"/>
            <a:r>
              <a:rPr lang="pl-PL" noProof="0" dirty="0"/>
              <a:t>Piąty poziom</a:t>
            </a:r>
          </a:p>
        </p:txBody>
      </p:sp>
      <p:sp>
        <p:nvSpPr>
          <p:cNvPr id="4" name="Data — symbol zastępczy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E9AAF44-6480-4485-82BA-3BD252DDDFA1}" type="datetime1">
              <a:rPr lang="pl-PL" smtClean="0"/>
              <a:pPr/>
              <a:t>21.05.2026</a:t>
            </a:fld>
            <a:endParaRPr lang="pl-PL" dirty="0"/>
          </a:p>
        </p:txBody>
      </p:sp>
      <p:sp>
        <p:nvSpPr>
          <p:cNvPr id="5" name="Stopka — symbol zastępczy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rtl="0"/>
            <a:endParaRPr lang="pl-PL" noProof="0" dirty="0"/>
          </a:p>
        </p:txBody>
      </p:sp>
      <p:sp>
        <p:nvSpPr>
          <p:cNvPr id="6" name="Numer slajdu — symbol zastępczy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pPr rtl="0"/>
            <a:fld id="{4FAB73BC-B049-4115-A692-8D63A059BFB8}" type="slidenum">
              <a:rPr lang="pl-PL" noProof="0" smtClean="0"/>
              <a:pPr/>
              <a:t>‹#›</a:t>
            </a:fld>
            <a:endParaRPr lang="pl-PL" noProof="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Prostokąt 18">
            <a:extLst>
              <a:ext uri="{FF2B5EF4-FFF2-40B4-BE49-F238E27FC236}">
                <a16:creationId xmlns:a16="http://schemas.microsoft.com/office/drawing/2014/main" id="{9FDD9264-A478-4B82-A891-2BEA8BF9F6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E02A32A9-E857-46CE-8AA3-D318B7D646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926" r="9092" b="20447"/>
          <a:stretch/>
        </p:blipFill>
        <p:spPr>
          <a:xfrm>
            <a:off x="20" y="-1"/>
            <a:ext cx="12188932" cy="6858000"/>
          </a:xfrm>
          <a:prstGeom prst="rect">
            <a:avLst/>
          </a:prstGeom>
        </p:spPr>
      </p:pic>
      <p:sp>
        <p:nvSpPr>
          <p:cNvPr id="21" name="Prostokąt 20">
            <a:extLst>
              <a:ext uri="{FF2B5EF4-FFF2-40B4-BE49-F238E27FC236}">
                <a16:creationId xmlns:a16="http://schemas.microsoft.com/office/drawing/2014/main" id="{C4D755E9-CEF5-43A7-A514-4664F25F3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61999"/>
            <a:ext cx="4642228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50BAEEE6-69AA-4811-8D2B-F84F74D46B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8125" y="1298448"/>
            <a:ext cx="4171950" cy="2521077"/>
          </a:xfrm>
        </p:spPr>
        <p:txBody>
          <a:bodyPr rtlCol="0">
            <a:normAutofit/>
          </a:bodyPr>
          <a:lstStyle/>
          <a:p>
            <a:r>
              <a:rPr lang="pl-PL" sz="1800" dirty="0"/>
              <a:t>Projektowanie  Systemów  Informatycznych</a:t>
            </a:r>
            <a:br>
              <a:rPr lang="pl-PL" sz="1800" dirty="0"/>
            </a:br>
            <a:br>
              <a:rPr lang="pl-PL" sz="4400" dirty="0"/>
            </a:br>
            <a:r>
              <a:rPr lang="pl-PL" sz="4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Przychodnia</a:t>
            </a:r>
            <a:br>
              <a:rPr lang="pl-PL" sz="4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pl-PL" sz="4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Medyczna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7721F547-2086-4D47-BB8F-44FA940064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7" y="4184471"/>
            <a:ext cx="3685069" cy="914400"/>
          </a:xfrm>
        </p:spPr>
        <p:txBody>
          <a:bodyPr rtlCol="0">
            <a:normAutofit/>
          </a:bodyPr>
          <a:lstStyle/>
          <a:p>
            <a:pPr rtl="0"/>
            <a:r>
              <a:rPr lang="pl-PL" dirty="0">
                <a:solidFill>
                  <a:schemeClr val="bg1"/>
                </a:solidFill>
              </a:rPr>
              <a:t>Jakub Kochanowski</a:t>
            </a:r>
          </a:p>
          <a:p>
            <a:pPr rtl="0"/>
            <a:r>
              <a:rPr lang="pl-PL" dirty="0">
                <a:solidFill>
                  <a:schemeClr val="bg1"/>
                </a:solidFill>
              </a:rPr>
              <a:t>Maciej Tyc</a:t>
            </a:r>
          </a:p>
        </p:txBody>
      </p:sp>
      <p:sp>
        <p:nvSpPr>
          <p:cNvPr id="23" name="Prostokąt 22">
            <a:extLst>
              <a:ext uri="{FF2B5EF4-FFF2-40B4-BE49-F238E27FC236}">
                <a16:creationId xmlns:a16="http://schemas.microsoft.com/office/drawing/2014/main" id="{2BF879CD-ED15-450F-B829-699C694D2E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D21FCA85-F913-7F6B-DAC0-ECD9655DF72A}"/>
              </a:ext>
            </a:extLst>
          </p:cNvPr>
          <p:cNvSpPr txBox="1"/>
          <p:nvPr/>
        </p:nvSpPr>
        <p:spPr>
          <a:xfrm>
            <a:off x="962025" y="5682734"/>
            <a:ext cx="34480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dirty="0">
                <a:solidFill>
                  <a:schemeClr val="bg1">
                    <a:lumMod val="95000"/>
                  </a:schemeClr>
                </a:solidFill>
              </a:rPr>
              <a:t>UWM Olsztyn 21.05.2026</a:t>
            </a:r>
          </a:p>
        </p:txBody>
      </p:sp>
    </p:spTree>
    <p:extLst>
      <p:ext uri="{BB962C8B-B14F-4D97-AF65-F5344CB8AC3E}">
        <p14:creationId xmlns:p14="http://schemas.microsoft.com/office/powerpoint/2010/main" val="355031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4FCDE57-D440-A140-2976-83B15375C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256" y="771412"/>
            <a:ext cx="3452306" cy="1486013"/>
          </a:xfrm>
        </p:spPr>
        <p:txBody>
          <a:bodyPr/>
          <a:lstStyle/>
          <a:p>
            <a:r>
              <a:rPr lang="pl-PL" dirty="0"/>
              <a:t>Analiza Biznesowa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324396D5-C78C-23CA-78A2-BEEA5A1290CF}"/>
              </a:ext>
            </a:extLst>
          </p:cNvPr>
          <p:cNvSpPr txBox="1"/>
          <p:nvPr/>
        </p:nvSpPr>
        <p:spPr>
          <a:xfrm>
            <a:off x="0" y="3752850"/>
            <a:ext cx="3448049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i="1" dirty="0">
                <a:solidFill>
                  <a:schemeClr val="bg1"/>
                </a:solidFill>
              </a:rPr>
              <a:t>Obszar:</a:t>
            </a:r>
          </a:p>
          <a:p>
            <a:endParaRPr lang="pl-PL" sz="800" i="1" dirty="0">
              <a:solidFill>
                <a:schemeClr val="bg1"/>
              </a:solidFill>
            </a:endParaRPr>
          </a:p>
          <a:p>
            <a:pPr algn="ctr"/>
            <a:r>
              <a:rPr lang="pl-PL" dirty="0">
                <a:solidFill>
                  <a:schemeClr val="bg1"/>
                </a:solidFill>
              </a:rPr>
              <a:t>Obsługa pacjenta w przychodni:</a:t>
            </a:r>
          </a:p>
          <a:p>
            <a:endParaRPr lang="pl-PL" sz="800" dirty="0">
              <a:solidFill>
                <a:schemeClr val="bg1"/>
              </a:solidFill>
            </a:endParaRPr>
          </a:p>
          <a:p>
            <a:pPr marL="285750" indent="-285750">
              <a:buFontTx/>
              <a:buChar char="-"/>
            </a:pPr>
            <a:r>
              <a:rPr lang="pl-PL" dirty="0">
                <a:solidFill>
                  <a:schemeClr val="bg1"/>
                </a:solidFill>
              </a:rPr>
              <a:t>Rejestracja wizyty</a:t>
            </a:r>
          </a:p>
          <a:p>
            <a:pPr marL="285750" indent="-285750">
              <a:buFontTx/>
              <a:buChar char="-"/>
            </a:pPr>
            <a:r>
              <a:rPr lang="pl-PL" dirty="0">
                <a:solidFill>
                  <a:schemeClr val="bg1"/>
                </a:solidFill>
              </a:rPr>
              <a:t>Udzielenie świadczenia</a:t>
            </a:r>
          </a:p>
          <a:p>
            <a:pPr marL="285750" indent="-285750">
              <a:buFontTx/>
              <a:buChar char="-"/>
            </a:pPr>
            <a:r>
              <a:rPr lang="pl-PL" dirty="0">
                <a:solidFill>
                  <a:schemeClr val="bg1"/>
                </a:solidFill>
              </a:rPr>
              <a:t>Wystawianie recepty</a:t>
            </a:r>
          </a:p>
          <a:p>
            <a:pPr marL="285750" indent="-285750">
              <a:buFontTx/>
              <a:buChar char="-"/>
            </a:pPr>
            <a:r>
              <a:rPr lang="pl-PL" dirty="0">
                <a:solidFill>
                  <a:schemeClr val="bg1"/>
                </a:solidFill>
              </a:rPr>
              <a:t>Rozliczenie z NFZ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5C5678DC-8732-29A7-B4BF-C7AF165E387E}"/>
              </a:ext>
            </a:extLst>
          </p:cNvPr>
          <p:cNvSpPr txBox="1"/>
          <p:nvPr/>
        </p:nvSpPr>
        <p:spPr>
          <a:xfrm>
            <a:off x="-4256" y="2698016"/>
            <a:ext cx="344804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i="1" dirty="0">
                <a:solidFill>
                  <a:schemeClr val="bg1"/>
                </a:solidFill>
              </a:rPr>
              <a:t>Dziedzina:</a:t>
            </a:r>
          </a:p>
          <a:p>
            <a:endParaRPr lang="pl-PL" sz="800" i="1" dirty="0">
              <a:solidFill>
                <a:schemeClr val="bg1"/>
              </a:solidFill>
            </a:endParaRPr>
          </a:p>
          <a:p>
            <a:pPr algn="ctr"/>
            <a:r>
              <a:rPr lang="pl-PL" dirty="0">
                <a:solidFill>
                  <a:schemeClr val="bg1"/>
                </a:solidFill>
              </a:rPr>
              <a:t>Przychodnia Medyczna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253C0DDE-293E-8A59-F362-CAD284F07E94}"/>
              </a:ext>
            </a:extLst>
          </p:cNvPr>
          <p:cNvSpPr txBox="1"/>
          <p:nvPr/>
        </p:nvSpPr>
        <p:spPr>
          <a:xfrm>
            <a:off x="3448049" y="390525"/>
            <a:ext cx="83724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dirty="0"/>
              <a:t>Opis Organizacji:</a:t>
            </a:r>
          </a:p>
          <a:p>
            <a:endParaRPr lang="pl-PL" i="1" dirty="0"/>
          </a:p>
          <a:p>
            <a:pPr algn="r"/>
            <a:r>
              <a:rPr lang="pl-PL" dirty="0"/>
              <a:t>Przychodnia to organizacja udzielająca świadczeń medycznych pacjentom. Przychodnia posiada podpisaną umowę z Narodowym Funduszem Zdrowia (NFZ) na udzielanie nowych świadczeń, jednak oferuje również usługi dodatkowe (np. prywatne wizyty specjalistyczne), za które pacjenci uiszczają opłaty w kasie. </a:t>
            </a:r>
          </a:p>
          <a:p>
            <a:pPr algn="r"/>
            <a:r>
              <a:rPr lang="pl-PL" dirty="0"/>
              <a:t>W strukturze organizacji działają pracownicy rejestracji obsługujący wizyty, lekarze przeprowadzający wywiady i badania, kasjerki przyjmujące płatności oraz księgowi zajmujący się rozliczeniami z instytucjami zewnętrznymi.</a:t>
            </a:r>
            <a:endParaRPr lang="pl-PL" i="1" dirty="0"/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3BE7B4EA-BF3B-C748-7060-A75534C99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3618" y="3076575"/>
            <a:ext cx="3448049" cy="3143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56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A73F1-7F7F-DD87-E33D-059A325CE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AA20524-DD0A-E298-C9F9-A61D8E58A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256" y="771412"/>
            <a:ext cx="3452306" cy="1486013"/>
          </a:xfrm>
        </p:spPr>
        <p:txBody>
          <a:bodyPr/>
          <a:lstStyle/>
          <a:p>
            <a:r>
              <a:rPr lang="pl-PL" dirty="0"/>
              <a:t>Analiza Biznesowa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DFA7A6FC-FB85-FE81-DCC9-DC68F804F94E}"/>
              </a:ext>
            </a:extLst>
          </p:cNvPr>
          <p:cNvSpPr txBox="1"/>
          <p:nvPr/>
        </p:nvSpPr>
        <p:spPr>
          <a:xfrm>
            <a:off x="0" y="4076700"/>
            <a:ext cx="3448049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Identyfikacja:</a:t>
            </a:r>
          </a:p>
          <a:p>
            <a:endParaRPr lang="pl-PL" sz="800" dirty="0">
              <a:solidFill>
                <a:schemeClr val="bg1"/>
              </a:solidFill>
            </a:endParaRPr>
          </a:p>
          <a:p>
            <a:pPr marL="285750" indent="-285750">
              <a:buFontTx/>
              <a:buChar char="-"/>
            </a:pPr>
            <a:r>
              <a:rPr lang="pl-PL" dirty="0">
                <a:solidFill>
                  <a:schemeClr val="bg1"/>
                </a:solidFill>
              </a:rPr>
              <a:t>Procesów biznesowych</a:t>
            </a:r>
          </a:p>
          <a:p>
            <a:pPr marL="285750" indent="-285750">
              <a:buFontTx/>
              <a:buChar char="-"/>
            </a:pPr>
            <a:r>
              <a:rPr lang="pl-PL" dirty="0">
                <a:solidFill>
                  <a:schemeClr val="bg1"/>
                </a:solidFill>
              </a:rPr>
              <a:t>Aktorów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130970A8-C59E-5046-42BF-84DCCAE9F113}"/>
              </a:ext>
            </a:extLst>
          </p:cNvPr>
          <p:cNvSpPr txBox="1"/>
          <p:nvPr/>
        </p:nvSpPr>
        <p:spPr>
          <a:xfrm>
            <a:off x="-4256" y="2698016"/>
            <a:ext cx="344804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i="1" dirty="0">
                <a:solidFill>
                  <a:schemeClr val="bg1"/>
                </a:solidFill>
              </a:rPr>
              <a:t>Dziedzina:</a:t>
            </a:r>
          </a:p>
          <a:p>
            <a:endParaRPr lang="pl-PL" sz="800" i="1" dirty="0">
              <a:solidFill>
                <a:schemeClr val="bg1"/>
              </a:solidFill>
            </a:endParaRPr>
          </a:p>
          <a:p>
            <a:pPr algn="ctr"/>
            <a:r>
              <a:rPr lang="pl-PL" dirty="0">
                <a:solidFill>
                  <a:schemeClr val="bg1"/>
                </a:solidFill>
              </a:rPr>
              <a:t>Przychodnia Medyczna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4B6E0D21-AAE6-5CCD-5ACB-1BB469DFEB2B}"/>
              </a:ext>
            </a:extLst>
          </p:cNvPr>
          <p:cNvSpPr txBox="1"/>
          <p:nvPr/>
        </p:nvSpPr>
        <p:spPr>
          <a:xfrm>
            <a:off x="3448049" y="781050"/>
            <a:ext cx="837247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dirty="0"/>
              <a:t>Analiza procesów biznesowych</a:t>
            </a:r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endParaRPr lang="pl-PL" b="1" i="1" dirty="0"/>
          </a:p>
          <a:p>
            <a:pPr algn="ctr"/>
            <a:r>
              <a:rPr lang="pl-PL" sz="1200" dirty="0"/>
              <a:t>Identyfikacja procesów biznesowych i aktorów</a:t>
            </a:r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B592AE85-8C21-FDF9-60D5-F6F9EF0CC7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5643" y="1237918"/>
            <a:ext cx="7621064" cy="4515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9269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39A66-6AB2-0FE0-5FA1-37EAC2D44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44A10D0-04E2-2A15-89C4-26B1B6D02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256" y="771412"/>
            <a:ext cx="3452306" cy="1486013"/>
          </a:xfrm>
        </p:spPr>
        <p:txBody>
          <a:bodyPr/>
          <a:lstStyle/>
          <a:p>
            <a:r>
              <a:rPr lang="pl-PL" dirty="0"/>
              <a:t>Analiza Wymagań SI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04C102E7-4761-87CA-B71D-FD62E100949C}"/>
              </a:ext>
            </a:extLst>
          </p:cNvPr>
          <p:cNvSpPr txBox="1"/>
          <p:nvPr/>
        </p:nvSpPr>
        <p:spPr>
          <a:xfrm>
            <a:off x="0" y="2505075"/>
            <a:ext cx="3448049" cy="2708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i="1" dirty="0">
                <a:solidFill>
                  <a:schemeClr val="bg1"/>
                </a:solidFill>
              </a:rPr>
              <a:t>Cel główny:</a:t>
            </a:r>
          </a:p>
          <a:p>
            <a:endParaRPr lang="pl-PL" sz="800" i="1" dirty="0">
              <a:solidFill>
                <a:schemeClr val="bg1"/>
              </a:solidFill>
            </a:endParaRPr>
          </a:p>
          <a:p>
            <a:pPr algn="ctr"/>
            <a:r>
              <a:rPr lang="pl-PL" dirty="0">
                <a:solidFill>
                  <a:schemeClr val="bg1"/>
                </a:solidFill>
              </a:rPr>
              <a:t>Usprawnienie i automatyzacja procesów obsługi pacjenta, prowadzenia dokumentacji medycznej, rozliczeń oraz zarządzania infrastrukturą              w przychodni medycznej poprzez wdrożenie zintegrowanego</a:t>
            </a:r>
          </a:p>
          <a:p>
            <a:pPr algn="ctr"/>
            <a:r>
              <a:rPr lang="pl-PL" dirty="0">
                <a:solidFill>
                  <a:schemeClr val="bg1"/>
                </a:solidFill>
              </a:rPr>
              <a:t>systemu informatycznego.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98494A87-F4B7-A125-07F2-B967067FD9F9}"/>
              </a:ext>
            </a:extLst>
          </p:cNvPr>
          <p:cNvSpPr txBox="1"/>
          <p:nvPr/>
        </p:nvSpPr>
        <p:spPr>
          <a:xfrm>
            <a:off x="3448049" y="266700"/>
            <a:ext cx="8372475" cy="64171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pl-PL" b="1" i="1" dirty="0"/>
              <a:t>Wymagania funkcjonalne: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pl-PL" sz="1600" dirty="0"/>
              <a:t>System musi umożliwiać rejestratorom dodawanie nowych pacjentów oraz rezerwację terminów wizyt lekarskich.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pl-PL" sz="1600" dirty="0"/>
              <a:t>System musi pozwolić lekarzom na wprowadzanie i przeglądanie historii choroby pacjenta w elektronicznej dokumentacji medycznej.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pl-PL" sz="1600" dirty="0"/>
              <a:t>System musi umożliwić lekarzom wystawianie e-recept oraz e-skierowań i automatycznie przesyłać je do systemu e-Zdrowie (P1).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pl-PL" sz="1600" dirty="0"/>
              <a:t>System powinien umożliwiać kasjerkom rejestrowanie płatności i wystawianie faktur/paragonów za usługi dodatkowe.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pl-PL" sz="1600" dirty="0"/>
              <a:t>System musi automatycznie generować okresowe zestawienia zrealizowanych usług w formacie wymaganym przez NFZ.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pl-PL" sz="1600" dirty="0"/>
              <a:t>System musi umożliwiać osobom zarządzającym układanie grafików pracy lekarzy, w tym przypisywanie ich do konkretnych gabinetów na podstawie dostępności stacjonarnego wyposażenia medycznego.</a:t>
            </a:r>
          </a:p>
          <a:p>
            <a:pPr>
              <a:spcAft>
                <a:spcPts val="600"/>
              </a:spcAft>
            </a:pPr>
            <a:endParaRPr lang="pl-PL" sz="1600" dirty="0"/>
          </a:p>
          <a:p>
            <a:pPr>
              <a:spcAft>
                <a:spcPts val="600"/>
              </a:spcAft>
            </a:pPr>
            <a:r>
              <a:rPr lang="pl-PL" b="1" i="1" dirty="0"/>
              <a:t>Wymagania</a:t>
            </a:r>
            <a:r>
              <a:rPr lang="pl-PL" sz="1600" b="1" i="1" dirty="0"/>
              <a:t> </a:t>
            </a:r>
            <a:r>
              <a:rPr lang="pl-PL" b="1" i="1" dirty="0"/>
              <a:t>niefunkcjonalne</a:t>
            </a:r>
            <a:r>
              <a:rPr lang="pl-PL" sz="1600" b="1" dirty="0"/>
              <a:t>: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pl-PL" sz="1600" dirty="0"/>
              <a:t>System musi zapewniać wysoki poziom bezpieczeństwa i szyfrowania danych osobowych oraz medycznych (zgodnie z RODO).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pl-PL" sz="1600" dirty="0"/>
              <a:t>System powinien posiadać intuicyjny graficzny interfejs użytkownika (GUI), łatwy w obsłudze dla personelu medycznego i administracyjnego.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pl-PL" sz="1600" dirty="0"/>
              <a:t>System musi być stabilny i dostępny w godzinach pracy przychodni, a ewentualny moduł rejestracji internetowej w trybie 24/7</a:t>
            </a:r>
          </a:p>
        </p:txBody>
      </p:sp>
    </p:spTree>
    <p:extLst>
      <p:ext uri="{BB962C8B-B14F-4D97-AF65-F5344CB8AC3E}">
        <p14:creationId xmlns:p14="http://schemas.microsoft.com/office/powerpoint/2010/main" val="2671370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3A298-FEBE-9CDA-9547-0DD97EA8F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CBF2C1E-A7E4-1794-497A-29BF70DD7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256" y="771412"/>
            <a:ext cx="3452306" cy="1486013"/>
          </a:xfrm>
        </p:spPr>
        <p:txBody>
          <a:bodyPr>
            <a:normAutofit fontScale="90000"/>
          </a:bodyPr>
          <a:lstStyle/>
          <a:p>
            <a:r>
              <a:rPr lang="pl-PL" dirty="0"/>
              <a:t>Analiza Funkcjonalności SI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E396C064-C1AF-C5A7-FE36-F329FF78D9F2}"/>
              </a:ext>
            </a:extLst>
          </p:cNvPr>
          <p:cNvSpPr txBox="1"/>
          <p:nvPr/>
        </p:nvSpPr>
        <p:spPr>
          <a:xfrm>
            <a:off x="0" y="2047875"/>
            <a:ext cx="344804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i="1" dirty="0">
                <a:solidFill>
                  <a:schemeClr val="bg1"/>
                </a:solidFill>
              </a:rPr>
              <a:t>Scenariusze przypadków użycia:</a:t>
            </a:r>
          </a:p>
          <a:p>
            <a:endParaRPr lang="pl-PL" sz="800" i="1" dirty="0">
              <a:solidFill>
                <a:schemeClr val="bg1"/>
              </a:solidFill>
            </a:endParaRPr>
          </a:p>
          <a:p>
            <a:r>
              <a:rPr lang="pl-PL" dirty="0">
                <a:solidFill>
                  <a:schemeClr val="bg1"/>
                </a:solidFill>
              </a:rPr>
              <a:t>UC-01 </a:t>
            </a:r>
          </a:p>
          <a:p>
            <a:r>
              <a:rPr lang="pl-PL" dirty="0">
                <a:solidFill>
                  <a:schemeClr val="bg1"/>
                </a:solidFill>
              </a:rPr>
              <a:t>Rejestracja nowego pacjenta</a:t>
            </a:r>
          </a:p>
          <a:p>
            <a:endParaRPr lang="pl-PL" sz="800" dirty="0">
              <a:solidFill>
                <a:schemeClr val="bg1"/>
              </a:solidFill>
            </a:endParaRPr>
          </a:p>
          <a:p>
            <a:r>
              <a:rPr lang="pl-PL" dirty="0">
                <a:solidFill>
                  <a:schemeClr val="bg1"/>
                </a:solidFill>
              </a:rPr>
              <a:t>UC-02</a:t>
            </a:r>
          </a:p>
          <a:p>
            <a:r>
              <a:rPr lang="pl-PL" dirty="0">
                <a:solidFill>
                  <a:schemeClr val="bg1"/>
                </a:solidFill>
              </a:rPr>
              <a:t>Umówienie wizyty przez pacjenta</a:t>
            </a:r>
          </a:p>
          <a:p>
            <a:endParaRPr lang="pl-PL" sz="800" dirty="0">
              <a:solidFill>
                <a:schemeClr val="bg1"/>
              </a:solidFill>
            </a:endParaRPr>
          </a:p>
          <a:p>
            <a:r>
              <a:rPr lang="pl-PL" dirty="0">
                <a:solidFill>
                  <a:schemeClr val="bg1"/>
                </a:solidFill>
              </a:rPr>
              <a:t>UC-03</a:t>
            </a:r>
          </a:p>
          <a:p>
            <a:r>
              <a:rPr lang="pl-PL" dirty="0">
                <a:solidFill>
                  <a:schemeClr val="bg1"/>
                </a:solidFill>
              </a:rPr>
              <a:t>Wystawienie e-recepty przez lekarza</a:t>
            </a:r>
          </a:p>
          <a:p>
            <a:endParaRPr lang="pl-PL" sz="800" dirty="0">
              <a:solidFill>
                <a:schemeClr val="bg1"/>
              </a:solidFill>
            </a:endParaRPr>
          </a:p>
          <a:p>
            <a:r>
              <a:rPr lang="pl-PL" dirty="0">
                <a:solidFill>
                  <a:schemeClr val="bg1"/>
                </a:solidFill>
              </a:rPr>
              <a:t>UC-04</a:t>
            </a:r>
          </a:p>
          <a:p>
            <a:r>
              <a:rPr lang="pl-PL" dirty="0">
                <a:solidFill>
                  <a:schemeClr val="bg1"/>
                </a:solidFill>
              </a:rPr>
              <a:t>Wygenerowanie zestawienia NFZ</a:t>
            </a:r>
          </a:p>
          <a:p>
            <a:endParaRPr lang="pl-PL" sz="800" dirty="0">
              <a:solidFill>
                <a:schemeClr val="bg1"/>
              </a:solidFill>
            </a:endParaRPr>
          </a:p>
          <a:p>
            <a:r>
              <a:rPr lang="pl-PL" dirty="0">
                <a:solidFill>
                  <a:schemeClr val="bg1"/>
                </a:solidFill>
              </a:rPr>
              <a:t>UC-05</a:t>
            </a:r>
          </a:p>
          <a:p>
            <a:r>
              <a:rPr lang="pl-PL" dirty="0">
                <a:solidFill>
                  <a:schemeClr val="bg1"/>
                </a:solidFill>
              </a:rPr>
              <a:t>Odwołanie wizyty przez pacjenta</a:t>
            </a: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549BF3C0-9269-F468-3042-8A34F2550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48" y="1457039"/>
            <a:ext cx="8038025" cy="4419886"/>
          </a:xfrm>
          <a:prstGeom prst="rect">
            <a:avLst/>
          </a:prstGeom>
        </p:spPr>
      </p:pic>
      <p:sp>
        <p:nvSpPr>
          <p:cNvPr id="9" name="pole tekstowe 8">
            <a:extLst>
              <a:ext uri="{FF2B5EF4-FFF2-40B4-BE49-F238E27FC236}">
                <a16:creationId xmlns:a16="http://schemas.microsoft.com/office/drawing/2014/main" id="{205A3909-E3A1-3138-5911-ECDEAF070F2F}"/>
              </a:ext>
            </a:extLst>
          </p:cNvPr>
          <p:cNvSpPr txBox="1"/>
          <p:nvPr/>
        </p:nvSpPr>
        <p:spPr>
          <a:xfrm>
            <a:off x="3448049" y="819150"/>
            <a:ext cx="8362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dirty="0"/>
              <a:t>Systemowy diagram przypadków użycia</a:t>
            </a:r>
          </a:p>
        </p:txBody>
      </p:sp>
    </p:spTree>
    <p:extLst>
      <p:ext uri="{BB962C8B-B14F-4D97-AF65-F5344CB8AC3E}">
        <p14:creationId xmlns:p14="http://schemas.microsoft.com/office/powerpoint/2010/main" val="2506220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9D808-03B4-35CB-2E92-EB36B165D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0080812-1CAE-B203-DA70-73896E673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256" y="771412"/>
            <a:ext cx="3452306" cy="1486013"/>
          </a:xfrm>
        </p:spPr>
        <p:txBody>
          <a:bodyPr>
            <a:normAutofit/>
          </a:bodyPr>
          <a:lstStyle/>
          <a:p>
            <a:r>
              <a:rPr lang="pl-PL" dirty="0"/>
              <a:t>Modelowanie Analityczne SI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9C80E873-1EEC-E16F-547B-37724193AA3B}"/>
              </a:ext>
            </a:extLst>
          </p:cNvPr>
          <p:cNvSpPr txBox="1"/>
          <p:nvPr/>
        </p:nvSpPr>
        <p:spPr>
          <a:xfrm>
            <a:off x="0" y="2828925"/>
            <a:ext cx="344804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i="1" dirty="0">
                <a:solidFill>
                  <a:schemeClr val="bg1"/>
                </a:solidFill>
              </a:rPr>
              <a:t>Identyfikacja klas analitycznych:</a:t>
            </a:r>
          </a:p>
          <a:p>
            <a:endParaRPr lang="pl-PL" sz="800" i="1" dirty="0">
              <a:solidFill>
                <a:schemeClr val="bg1"/>
              </a:solidFill>
            </a:endParaRPr>
          </a:p>
          <a:p>
            <a:endParaRPr lang="pl-PL" sz="800" i="1" dirty="0">
              <a:solidFill>
                <a:schemeClr val="bg1"/>
              </a:solidFill>
            </a:endParaRPr>
          </a:p>
          <a:p>
            <a:pPr algn="ctr">
              <a:spcAft>
                <a:spcPts val="600"/>
              </a:spcAft>
            </a:pPr>
            <a:r>
              <a:rPr lang="pl-PL" dirty="0">
                <a:solidFill>
                  <a:schemeClr val="bg1"/>
                </a:solidFill>
              </a:rPr>
              <a:t>Na podstawie analizy scenariuszy</a:t>
            </a:r>
          </a:p>
          <a:p>
            <a:pPr algn="ctr">
              <a:spcAft>
                <a:spcPts val="600"/>
              </a:spcAft>
            </a:pPr>
            <a:r>
              <a:rPr lang="pl-PL" dirty="0">
                <a:solidFill>
                  <a:schemeClr val="bg1"/>
                </a:solidFill>
              </a:rPr>
              <a:t> UC-01 .. UC-05</a:t>
            </a:r>
          </a:p>
          <a:p>
            <a:pPr algn="ctr">
              <a:spcAft>
                <a:spcPts val="600"/>
              </a:spcAft>
            </a:pPr>
            <a:r>
              <a:rPr lang="pl-PL" dirty="0">
                <a:solidFill>
                  <a:schemeClr val="bg1"/>
                </a:solidFill>
              </a:rPr>
              <a:t>Definiujemy klasy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2EA99DD4-3A89-9D91-57CF-C4153EB38CC4}"/>
              </a:ext>
            </a:extLst>
          </p:cNvPr>
          <p:cNvSpPr txBox="1"/>
          <p:nvPr/>
        </p:nvSpPr>
        <p:spPr>
          <a:xfrm>
            <a:off x="3448049" y="438150"/>
            <a:ext cx="8362951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dirty="0"/>
              <a:t>Klasy graniczne (</a:t>
            </a:r>
            <a:r>
              <a:rPr lang="pl-PL" b="1" i="1" dirty="0" err="1"/>
              <a:t>Boundary</a:t>
            </a:r>
            <a:r>
              <a:rPr lang="pl-PL" b="1" i="1" dirty="0"/>
              <a:t>) </a:t>
            </a:r>
          </a:p>
          <a:p>
            <a:r>
              <a:rPr lang="pl-PL" sz="1600" b="1" i="1" dirty="0"/>
              <a:t>(Modeluje interakcje użytkowników z systemem oraz interfejsy systemów zewnętrznych)</a:t>
            </a:r>
          </a:p>
          <a:p>
            <a:r>
              <a:rPr lang="pl-PL" sz="1200" b="1" i="1" dirty="0"/>
              <a:t>• Formularz Rejestracji – </a:t>
            </a:r>
            <a:r>
              <a:rPr lang="pl-PL" sz="1200" i="1" dirty="0"/>
              <a:t>ekran wprowadzania danych nowego pacjenta.</a:t>
            </a:r>
          </a:p>
          <a:p>
            <a:r>
              <a:rPr lang="pl-PL" sz="1200" b="1" i="1" dirty="0"/>
              <a:t>• Okno Rezerwacji Wizyty – </a:t>
            </a:r>
            <a:r>
              <a:rPr lang="pl-PL" sz="1200" i="1" dirty="0"/>
              <a:t>interfejs wyboru lekarza i terminu.</a:t>
            </a:r>
          </a:p>
          <a:p>
            <a:r>
              <a:rPr lang="pl-PL" sz="1200" b="1" i="1" dirty="0"/>
              <a:t>• Formularz e-Recepty – </a:t>
            </a:r>
            <a:r>
              <a:rPr lang="pl-PL" sz="1200" i="1" dirty="0"/>
              <a:t>ekran wystawiania dokumentów medycznych.</a:t>
            </a:r>
          </a:p>
          <a:p>
            <a:r>
              <a:rPr lang="pl-PL" sz="1200" b="1" i="1" dirty="0"/>
              <a:t>• Panel Raportów NFZ – </a:t>
            </a:r>
            <a:r>
              <a:rPr lang="pl-PL" sz="1200" i="1" dirty="0"/>
              <a:t>interfejs zarządzania rozliczeniami.</a:t>
            </a:r>
          </a:p>
          <a:p>
            <a:r>
              <a:rPr lang="pl-PL" sz="1200" b="1" i="1" dirty="0"/>
              <a:t>• Okno "Moje Wizyty„ – </a:t>
            </a:r>
            <a:r>
              <a:rPr lang="pl-PL" sz="1200" i="1" dirty="0"/>
              <a:t>widok listy zaplanowanych wizyt pacjenta.</a:t>
            </a:r>
          </a:p>
          <a:p>
            <a:r>
              <a:rPr lang="pl-PL" sz="1200" b="1" i="1" dirty="0"/>
              <a:t>• API P1 – </a:t>
            </a:r>
            <a:r>
              <a:rPr lang="pl-PL" sz="1200" i="1" dirty="0"/>
              <a:t>interfejs komunikacyjny z systemem e-Zdrowie.</a:t>
            </a:r>
          </a:p>
          <a:p>
            <a:r>
              <a:rPr lang="pl-PL" sz="1200" b="1" i="1" dirty="0"/>
              <a:t>• API NFZ – </a:t>
            </a:r>
            <a:r>
              <a:rPr lang="pl-PL" sz="1200" i="1" dirty="0"/>
              <a:t>interfejs komunikacyjny z systemem rozliczeniowym płatnika.</a:t>
            </a:r>
          </a:p>
          <a:p>
            <a:endParaRPr lang="pl-PL" sz="1200" b="1" i="1" dirty="0"/>
          </a:p>
          <a:p>
            <a:r>
              <a:rPr lang="pl-PL" b="1" i="1" dirty="0"/>
              <a:t>Klasy sterujące (Control)</a:t>
            </a:r>
          </a:p>
          <a:p>
            <a:r>
              <a:rPr lang="pl-PL" sz="1600" b="1" i="1" dirty="0"/>
              <a:t>(Odpowiadają za logikę biznesową i koordynacje z systemem rozliczeniowym płatnika)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Rejestracja Pacjenta –</a:t>
            </a:r>
            <a:r>
              <a:rPr lang="pl-PL" sz="1200" dirty="0"/>
              <a:t> logika walidacji i zapisu danych pacjenta.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Rezerwacja Wizyty –</a:t>
            </a:r>
            <a:r>
              <a:rPr lang="pl-PL" sz="1200" dirty="0"/>
              <a:t> proces zarządzania zajętością terminów.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Wystawienie e-Recepty –</a:t>
            </a:r>
            <a:r>
              <a:rPr lang="pl-PL" sz="1200" dirty="0"/>
              <a:t> logika generowania i wysyłki dokumentu medycznego.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Rozliczenie NFZ –</a:t>
            </a:r>
            <a:r>
              <a:rPr lang="pl-PL" sz="1200" dirty="0"/>
              <a:t> koordynacja agregacji usług i generowania raportów XML.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Odwołanie Wizyty –</a:t>
            </a:r>
            <a:r>
              <a:rPr lang="pl-PL" sz="1200" dirty="0"/>
              <a:t> logika zwalniania zarezerwowanych terminów</a:t>
            </a:r>
          </a:p>
          <a:p>
            <a:endParaRPr lang="pl-PL" sz="1200" b="1" i="1" dirty="0"/>
          </a:p>
          <a:p>
            <a:r>
              <a:rPr lang="pl-PL" b="1" i="1" dirty="0"/>
              <a:t>Klasy przechowujące (</a:t>
            </a:r>
            <a:r>
              <a:rPr lang="pl-PL" b="1" i="1" dirty="0" err="1"/>
              <a:t>Entity</a:t>
            </a:r>
            <a:r>
              <a:rPr lang="pl-PL" b="1" i="1" dirty="0"/>
              <a:t>)</a:t>
            </a:r>
          </a:p>
          <a:p>
            <a:r>
              <a:rPr lang="pl-PL" sz="1600" b="1" i="1" dirty="0"/>
              <a:t>(</a:t>
            </a:r>
            <a:r>
              <a:rPr lang="pl-PL" sz="1600" b="1" i="1"/>
              <a:t>Reprezentują trwałą strukturę </a:t>
            </a:r>
            <a:r>
              <a:rPr lang="pl-PL" sz="1600" b="1" i="1" dirty="0"/>
              <a:t>danych w systemie)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Pacjent –</a:t>
            </a:r>
            <a:r>
              <a:rPr lang="pl-PL" sz="1200" dirty="0"/>
              <a:t> dane demograficzne i kontaktowe.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Dokumentacja Medyczna </a:t>
            </a:r>
            <a:r>
              <a:rPr lang="pl-PL" sz="1200" dirty="0"/>
              <a:t>– historia leczenia i badań.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Użytkownik </a:t>
            </a:r>
            <a:r>
              <a:rPr lang="pl-PL" sz="1200" dirty="0"/>
              <a:t>– dane autoryzacyjne personelu i pacjentów.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Wizyta –</a:t>
            </a:r>
            <a:r>
              <a:rPr lang="pl-PL" sz="1200" dirty="0"/>
              <a:t> rekord konkretnego spotkania lekarskiego.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Lekarz –</a:t>
            </a:r>
            <a:r>
              <a:rPr lang="pl-PL" sz="1200" dirty="0"/>
              <a:t> dane o personelu medycznym i specjalizacjach.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Termin –</a:t>
            </a:r>
            <a:r>
              <a:rPr lang="pl-PL" sz="1200" dirty="0"/>
              <a:t> rekordy dostępności czasowej gabinetów i personelu.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e-Recepta / Lek –</a:t>
            </a:r>
            <a:r>
              <a:rPr lang="pl-PL" sz="1200" dirty="0"/>
              <a:t> szczegóły przepisanych preparatów.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Usługa Medyczna</a:t>
            </a:r>
            <a:r>
              <a:rPr lang="pl-PL" sz="1200" dirty="0"/>
              <a:t> </a:t>
            </a:r>
            <a:r>
              <a:rPr lang="pl-PL" sz="1200" b="1" dirty="0"/>
              <a:t>–</a:t>
            </a:r>
            <a:r>
              <a:rPr lang="pl-PL" sz="1200" dirty="0"/>
              <a:t> kody i opisy zabiegów podlegających raportowaniu. </a:t>
            </a:r>
          </a:p>
          <a:p>
            <a:r>
              <a:rPr lang="pl-PL" sz="1200" dirty="0"/>
              <a:t>• </a:t>
            </a:r>
            <a:r>
              <a:rPr lang="pl-PL" sz="1200" b="1" dirty="0"/>
              <a:t>Raport NFZ</a:t>
            </a:r>
            <a:r>
              <a:rPr lang="pl-PL" sz="1200" dirty="0"/>
              <a:t> </a:t>
            </a:r>
            <a:r>
              <a:rPr lang="pl-PL" sz="1200" b="1" dirty="0"/>
              <a:t>–</a:t>
            </a:r>
            <a:r>
              <a:rPr lang="pl-PL" sz="1200" dirty="0"/>
              <a:t> zbiór zarchiwizowanych danych rozliczeniowych.</a:t>
            </a:r>
            <a:endParaRPr lang="pl-PL" sz="1200" b="1" i="1" dirty="0"/>
          </a:p>
        </p:txBody>
      </p:sp>
    </p:spTree>
    <p:extLst>
      <p:ext uri="{BB962C8B-B14F-4D97-AF65-F5344CB8AC3E}">
        <p14:creationId xmlns:p14="http://schemas.microsoft.com/office/powerpoint/2010/main" val="3667935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686EA-521D-7291-1068-E03E237E8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12093AF-5AE6-E8E1-CD20-2B076D07E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256" y="771412"/>
            <a:ext cx="3452306" cy="1486013"/>
          </a:xfrm>
        </p:spPr>
        <p:txBody>
          <a:bodyPr>
            <a:normAutofit/>
          </a:bodyPr>
          <a:lstStyle/>
          <a:p>
            <a:r>
              <a:rPr lang="pl-PL" dirty="0"/>
              <a:t>Modelowanie Danych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F8ADEEB5-872F-DBB1-FEE9-B20D93566F70}"/>
              </a:ext>
            </a:extLst>
          </p:cNvPr>
          <p:cNvSpPr txBox="1"/>
          <p:nvPr/>
        </p:nvSpPr>
        <p:spPr>
          <a:xfrm>
            <a:off x="0" y="2828925"/>
            <a:ext cx="3448049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i="1" dirty="0">
                <a:solidFill>
                  <a:schemeClr val="bg1"/>
                </a:solidFill>
              </a:rPr>
              <a:t>Konceptualny diagram klas:</a:t>
            </a:r>
          </a:p>
          <a:p>
            <a:endParaRPr lang="pl-PL" sz="800" i="1" dirty="0">
              <a:solidFill>
                <a:schemeClr val="bg1"/>
              </a:solidFill>
            </a:endParaRPr>
          </a:p>
          <a:p>
            <a:endParaRPr lang="pl-PL" sz="800" i="1" dirty="0">
              <a:solidFill>
                <a:schemeClr val="bg1"/>
              </a:solidFill>
            </a:endParaRPr>
          </a:p>
          <a:p>
            <a:pPr algn="r">
              <a:spcAft>
                <a:spcPts val="600"/>
              </a:spcAft>
            </a:pPr>
            <a:r>
              <a:rPr lang="pl-PL" dirty="0">
                <a:solidFill>
                  <a:schemeClr val="bg1"/>
                </a:solidFill>
              </a:rPr>
              <a:t>Przedstawia statyczną strukturę danych systemu oraz (asocjacje, agregacje) między kluczowymi bytami przychodni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334C5DFB-D1D2-1338-8E1E-BE4F7256E011}"/>
              </a:ext>
            </a:extLst>
          </p:cNvPr>
          <p:cNvSpPr txBox="1"/>
          <p:nvPr/>
        </p:nvSpPr>
        <p:spPr>
          <a:xfrm>
            <a:off x="3448049" y="790575"/>
            <a:ext cx="8362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dirty="0"/>
              <a:t>Konceptualny diagram klas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94DC1726-2B06-2406-343F-C662B8C9A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4697" y="1504427"/>
            <a:ext cx="7563906" cy="4067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818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D1CEF-61A5-00B3-AAA7-DF05197CD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197F795-76E7-B1FE-AE1C-BD5EFC75A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256" y="771412"/>
            <a:ext cx="3452306" cy="1486013"/>
          </a:xfrm>
        </p:spPr>
        <p:txBody>
          <a:bodyPr>
            <a:normAutofit/>
          </a:bodyPr>
          <a:lstStyle/>
          <a:p>
            <a:r>
              <a:rPr lang="pl-PL" dirty="0"/>
              <a:t>Modelowanie Danych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F6147250-0A93-5FA3-F4BF-0C58A724CC96}"/>
              </a:ext>
            </a:extLst>
          </p:cNvPr>
          <p:cNvSpPr txBox="1"/>
          <p:nvPr/>
        </p:nvSpPr>
        <p:spPr>
          <a:xfrm>
            <a:off x="0" y="2828925"/>
            <a:ext cx="344804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i="1" dirty="0">
                <a:solidFill>
                  <a:schemeClr val="bg1"/>
                </a:solidFill>
              </a:rPr>
              <a:t>Diagram obiektów:</a:t>
            </a:r>
          </a:p>
          <a:p>
            <a:endParaRPr lang="pl-PL" sz="800" i="1" dirty="0">
              <a:solidFill>
                <a:schemeClr val="bg1"/>
              </a:solidFill>
            </a:endParaRPr>
          </a:p>
          <a:p>
            <a:endParaRPr lang="pl-PL" sz="800" i="1" dirty="0">
              <a:solidFill>
                <a:schemeClr val="bg1"/>
              </a:solidFill>
            </a:endParaRPr>
          </a:p>
          <a:p>
            <a:pPr algn="r">
              <a:spcAft>
                <a:spcPts val="600"/>
              </a:spcAft>
            </a:pPr>
            <a:r>
              <a:rPr lang="pl-PL" dirty="0">
                <a:solidFill>
                  <a:schemeClr val="bg1"/>
                </a:solidFill>
              </a:rPr>
              <a:t>Opis wybranej sytuacji występującej w projektowanym SI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4B90FA04-0FBC-0A9A-129C-E434EFAC89FF}"/>
              </a:ext>
            </a:extLst>
          </p:cNvPr>
          <p:cNvSpPr txBox="1"/>
          <p:nvPr/>
        </p:nvSpPr>
        <p:spPr>
          <a:xfrm>
            <a:off x="3448049" y="790575"/>
            <a:ext cx="83629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dirty="0"/>
              <a:t>Diagramy obiektów</a:t>
            </a:r>
          </a:p>
          <a:p>
            <a:r>
              <a:rPr lang="pl-PL" b="1" i="1" dirty="0"/>
              <a:t>(Migawka stanu systemu dla wizyty przykładowego pacjenta Jana Kowalskiego) 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E2491536-3B27-5091-162B-EE774ECA3A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4196" y="1890455"/>
            <a:ext cx="7763958" cy="3686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9721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AC97B-B39F-B61E-5474-9A5EF03BE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2F20706-B76D-7396-AAAB-FE6B657DE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256" y="771412"/>
            <a:ext cx="3452306" cy="1486013"/>
          </a:xfrm>
        </p:spPr>
        <p:txBody>
          <a:bodyPr>
            <a:normAutofit/>
          </a:bodyPr>
          <a:lstStyle/>
          <a:p>
            <a:r>
              <a:rPr lang="pl-PL" dirty="0"/>
              <a:t>Projektowanie Danych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A77C9D66-A17F-5A0C-9668-3114D97207C5}"/>
              </a:ext>
            </a:extLst>
          </p:cNvPr>
          <p:cNvSpPr txBox="1"/>
          <p:nvPr/>
        </p:nvSpPr>
        <p:spPr>
          <a:xfrm>
            <a:off x="0" y="2828925"/>
            <a:ext cx="3448049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i="1" dirty="0">
                <a:solidFill>
                  <a:schemeClr val="bg1"/>
                </a:solidFill>
              </a:rPr>
              <a:t>Implementacyjny diagram klas:</a:t>
            </a:r>
          </a:p>
          <a:p>
            <a:endParaRPr lang="pl-PL" sz="800" i="1" dirty="0">
              <a:solidFill>
                <a:schemeClr val="bg1"/>
              </a:solidFill>
            </a:endParaRPr>
          </a:p>
          <a:p>
            <a:endParaRPr lang="pl-PL" sz="800" i="1" dirty="0">
              <a:solidFill>
                <a:schemeClr val="bg1"/>
              </a:solidFill>
            </a:endParaRPr>
          </a:p>
          <a:p>
            <a:pPr algn="r">
              <a:spcAft>
                <a:spcPts val="600"/>
              </a:spcAft>
            </a:pPr>
            <a:r>
              <a:rPr lang="pl-PL" dirty="0">
                <a:solidFill>
                  <a:schemeClr val="bg1"/>
                </a:solidFill>
              </a:rPr>
              <a:t>Uszczegóławia model analityczny o typy danych specyficznych dla systemów bazodanowych oraz definiuje klucz główny.</a:t>
            </a:r>
          </a:p>
          <a:p>
            <a:pPr algn="r">
              <a:spcAft>
                <a:spcPts val="600"/>
              </a:spcAft>
            </a:pPr>
            <a:r>
              <a:rPr lang="pl-PL" dirty="0">
                <a:solidFill>
                  <a:schemeClr val="bg1"/>
                </a:solidFill>
              </a:rPr>
              <a:t>Diagram służy jako bezpośredni wzorzec do implementacji baz danych.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63877A7E-B113-D1E8-0FE8-C0F6BCA74513}"/>
              </a:ext>
            </a:extLst>
          </p:cNvPr>
          <p:cNvSpPr txBox="1"/>
          <p:nvPr/>
        </p:nvSpPr>
        <p:spPr>
          <a:xfrm>
            <a:off x="3438524" y="390525"/>
            <a:ext cx="8362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dirty="0"/>
              <a:t>Implementacyjny diagram klas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39CCCC3B-BB55-A27E-84BD-920649AF58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899" y="769382"/>
            <a:ext cx="7706801" cy="573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3240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9E6E5-7258-34C1-448C-62D39D256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B8F9D88-9028-AB89-5A4E-00E018CC1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256" y="952387"/>
            <a:ext cx="3452306" cy="1486013"/>
          </a:xfrm>
        </p:spPr>
        <p:txBody>
          <a:bodyPr>
            <a:normAutofit fontScale="90000"/>
          </a:bodyPr>
          <a:lstStyle/>
          <a:p>
            <a:r>
              <a:rPr lang="pl-PL" dirty="0"/>
              <a:t>Projektowanie Interfejsu użytkownika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4E41B60B-6EA3-F0FB-5F02-FEA0E6E72A31}"/>
              </a:ext>
            </a:extLst>
          </p:cNvPr>
          <p:cNvSpPr txBox="1"/>
          <p:nvPr/>
        </p:nvSpPr>
        <p:spPr>
          <a:xfrm>
            <a:off x="0" y="2828925"/>
            <a:ext cx="344804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i="1" dirty="0">
                <a:solidFill>
                  <a:schemeClr val="bg1"/>
                </a:solidFill>
              </a:rPr>
              <a:t>Szkic lub Makieta lub Prototyp:</a:t>
            </a:r>
          </a:p>
          <a:p>
            <a:endParaRPr lang="pl-PL" sz="800" i="1" dirty="0">
              <a:solidFill>
                <a:schemeClr val="bg1"/>
              </a:solidFill>
            </a:endParaRPr>
          </a:p>
          <a:p>
            <a:endParaRPr lang="pl-PL" sz="800" i="1" dirty="0">
              <a:solidFill>
                <a:schemeClr val="bg1"/>
              </a:solidFill>
            </a:endParaRPr>
          </a:p>
          <a:p>
            <a:pPr algn="r">
              <a:spcAft>
                <a:spcPts val="600"/>
              </a:spcAft>
            </a:pPr>
            <a:r>
              <a:rPr lang="pl-PL" dirty="0">
                <a:solidFill>
                  <a:schemeClr val="bg1"/>
                </a:solidFill>
              </a:rPr>
              <a:t>Przedstawia graficzny przykładowy układ menu, formularzy, raportów.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2470B532-ED77-903E-AECC-6FA79603C931}"/>
              </a:ext>
            </a:extLst>
          </p:cNvPr>
          <p:cNvSpPr txBox="1"/>
          <p:nvPr/>
        </p:nvSpPr>
        <p:spPr>
          <a:xfrm>
            <a:off x="3448049" y="390525"/>
            <a:ext cx="8362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b="1" i="1" dirty="0"/>
              <a:t>Makieta</a:t>
            </a: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874AE4EF-9DB3-6D3D-8717-8A150BABA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2934" y="759857"/>
            <a:ext cx="5206131" cy="3146881"/>
          </a:xfrm>
          <a:prstGeom prst="rect">
            <a:avLst/>
          </a:prstGeom>
        </p:spPr>
      </p:pic>
      <p:pic>
        <p:nvPicPr>
          <p:cNvPr id="10" name="Obraz 9">
            <a:extLst>
              <a:ext uri="{FF2B5EF4-FFF2-40B4-BE49-F238E27FC236}">
                <a16:creationId xmlns:a16="http://schemas.microsoft.com/office/drawing/2014/main" id="{6DB59817-0E98-8DB7-3D8B-0ED49F92DF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0755" y="1855559"/>
            <a:ext cx="5234058" cy="3146882"/>
          </a:xfrm>
          <a:prstGeom prst="rect">
            <a:avLst/>
          </a:prstGeom>
        </p:spPr>
      </p:pic>
      <p:pic>
        <p:nvPicPr>
          <p:cNvPr id="12" name="Obraz 11">
            <a:extLst>
              <a:ext uri="{FF2B5EF4-FFF2-40B4-BE49-F238E27FC236}">
                <a16:creationId xmlns:a16="http://schemas.microsoft.com/office/drawing/2014/main" id="{AD8F1245-6CD1-E816-49A1-9AABDEABFB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4646" y="2681328"/>
            <a:ext cx="5213238" cy="3416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820476"/>
      </p:ext>
    </p:extLst>
  </p:cSld>
  <p:clrMapOvr>
    <a:masterClrMapping/>
  </p:clrMapOvr>
</p:sld>
</file>

<file path=ppt/theme/theme1.xml><?xml version="1.0" encoding="utf-8"?>
<a:theme xmlns:a="http://schemas.openxmlformats.org/drawingml/2006/main" name="Ramka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6276_TF00804820.potx" id="{7F3D9C77-8EE5-40CF-B728-93CBF4F9B5C1}" vid="{67EABDCB-372C-4212-9A0F-A3B4DA27AAFE}"/>
    </a:ext>
  </a:extLst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8CEA0254-3646-4633-AE89-92733C2D697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BD8AF61-0EFE-4B67-AC63-165AA360F94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5A9C098-A058-4A59-AA77-E2402053F600}">
  <ds:schemaRefs>
    <ds:schemaRef ds:uri="http://purl.org/dc/terms/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microsoft.com/office/2006/metadata/properties"/>
    <ds:schemaRef ds:uri="16c05727-aa75-4e4a-9b5f-8a80a1165891"/>
    <ds:schemaRef ds:uri="71af3243-3dd4-4a8d-8c0d-dd76da1f02a5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Projekt Ramka</Template>
  <TotalTime>174</TotalTime>
  <Words>729</Words>
  <Application>Microsoft Office PowerPoint</Application>
  <PresentationFormat>Panoramiczny</PresentationFormat>
  <Paragraphs>145</Paragraphs>
  <Slides>10</Slides>
  <Notes>1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10</vt:i4>
      </vt:variant>
    </vt:vector>
  </HeadingPairs>
  <TitlesOfParts>
    <vt:vector size="15" baseType="lpstr">
      <vt:lpstr>Calibri</vt:lpstr>
      <vt:lpstr>Corbel</vt:lpstr>
      <vt:lpstr>Wingdings</vt:lpstr>
      <vt:lpstr>Wingdings 2</vt:lpstr>
      <vt:lpstr>Ramka</vt:lpstr>
      <vt:lpstr>Projektowanie  Systemów  Informatycznych  Przychodnia Medyczna</vt:lpstr>
      <vt:lpstr>Analiza Biznesowa</vt:lpstr>
      <vt:lpstr>Analiza Biznesowa</vt:lpstr>
      <vt:lpstr>Analiza Wymagań SI</vt:lpstr>
      <vt:lpstr>Analiza Funkcjonalności SI</vt:lpstr>
      <vt:lpstr>Modelowanie Analityczne SI</vt:lpstr>
      <vt:lpstr>Modelowanie Danych</vt:lpstr>
      <vt:lpstr>Modelowanie Danych</vt:lpstr>
      <vt:lpstr>Projektowanie Danych</vt:lpstr>
      <vt:lpstr>Projektowanie Interfejsu użytkownika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Wojciech</dc:creator>
  <cp:lastModifiedBy>Wojciech</cp:lastModifiedBy>
  <cp:revision>6</cp:revision>
  <cp:lastPrinted>2026-05-20T22:07:13Z</cp:lastPrinted>
  <dcterms:created xsi:type="dcterms:W3CDTF">2026-05-20T19:12:58Z</dcterms:created>
  <dcterms:modified xsi:type="dcterms:W3CDTF">2026-05-20T22:11:43Z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